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47"/>
  </p:notesMasterIdLst>
  <p:sldIdLst>
    <p:sldId id="256" r:id="rId2"/>
    <p:sldId id="258" r:id="rId3"/>
    <p:sldId id="260" r:id="rId4"/>
    <p:sldId id="259" r:id="rId5"/>
    <p:sldId id="297" r:id="rId6"/>
    <p:sldId id="330" r:id="rId7"/>
    <p:sldId id="261" r:id="rId8"/>
    <p:sldId id="299" r:id="rId9"/>
    <p:sldId id="298" r:id="rId10"/>
    <p:sldId id="263" r:id="rId11"/>
    <p:sldId id="302" r:id="rId12"/>
    <p:sldId id="303" r:id="rId13"/>
    <p:sldId id="276" r:id="rId14"/>
    <p:sldId id="304" r:id="rId15"/>
    <p:sldId id="305" r:id="rId16"/>
    <p:sldId id="306" r:id="rId17"/>
    <p:sldId id="268" r:id="rId18"/>
    <p:sldId id="307" r:id="rId19"/>
    <p:sldId id="274" r:id="rId20"/>
    <p:sldId id="309" r:id="rId21"/>
    <p:sldId id="310" r:id="rId22"/>
    <p:sldId id="308" r:id="rId23"/>
    <p:sldId id="311" r:id="rId24"/>
    <p:sldId id="313" r:id="rId25"/>
    <p:sldId id="314" r:id="rId26"/>
    <p:sldId id="315" r:id="rId27"/>
    <p:sldId id="312" r:id="rId28"/>
    <p:sldId id="316" r:id="rId29"/>
    <p:sldId id="317" r:id="rId30"/>
    <p:sldId id="264" r:id="rId31"/>
    <p:sldId id="318" r:id="rId32"/>
    <p:sldId id="319" r:id="rId33"/>
    <p:sldId id="320" r:id="rId34"/>
    <p:sldId id="321" r:id="rId35"/>
    <p:sldId id="322" r:id="rId36"/>
    <p:sldId id="323" r:id="rId37"/>
    <p:sldId id="324" r:id="rId38"/>
    <p:sldId id="267" r:id="rId39"/>
    <p:sldId id="325" r:id="rId40"/>
    <p:sldId id="326" r:id="rId41"/>
    <p:sldId id="327" r:id="rId42"/>
    <p:sldId id="328" r:id="rId43"/>
    <p:sldId id="266" r:id="rId44"/>
    <p:sldId id="270" r:id="rId45"/>
    <p:sldId id="329" r:id="rId46"/>
  </p:sldIdLst>
  <p:sldSz cx="9144000" cy="5143500" type="screen16x9"/>
  <p:notesSz cx="6858000" cy="9144000"/>
  <p:embeddedFontLst>
    <p:embeddedFont>
      <p:font typeface="Albert Sans" panose="020B0604020202020204" charset="0"/>
      <p:regular r:id="rId48"/>
      <p:bold r:id="rId49"/>
      <p:italic r:id="rId50"/>
      <p:boldItalic r:id="rId51"/>
    </p:embeddedFont>
    <p:embeddedFont>
      <p:font typeface="Anaheim" panose="020B0604020202020204" charset="0"/>
      <p:regular r:id="rId52"/>
      <p:bold r:id="rId53"/>
    </p:embeddedFont>
    <p:embeddedFont>
      <p:font typeface="Archivo" panose="020B0604020202020204" charset="0"/>
      <p:regular r:id="rId54"/>
      <p:bold r:id="rId55"/>
      <p:italic r:id="rId56"/>
      <p:boldItalic r:id="rId57"/>
    </p:embeddedFont>
    <p:embeddedFont>
      <p:font typeface="Nunito Light" pitchFamily="2" charset="0"/>
      <p:regular r:id="rId58"/>
      <p:italic r:id="rId59"/>
    </p:embeddedFont>
    <p:embeddedFont>
      <p:font typeface="Open Sans" panose="020B0606030504020204" pitchFamily="34" charset="0"/>
      <p:regular r:id="rId60"/>
      <p:bold r:id="rId61"/>
      <p:italic r:id="rId62"/>
      <p:boldItalic r:id="rId63"/>
    </p:embeddedFont>
    <p:embeddedFont>
      <p:font typeface="Raleway" pitchFamily="2" charset="0"/>
      <p:regular r:id="rId64"/>
      <p:bold r:id="rId65"/>
      <p:italic r:id="rId66"/>
      <p:boldItalic r:id="rId6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5093472-E142-4E47-A3BD-7E14E38A6F57}">
  <a:tblStyle styleId="{25093472-E142-4E47-A3BD-7E14E38A6F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20D7D81-2994-40C8-821F-EE4B5BFBA54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457" autoAdjust="0"/>
  </p:normalViewPr>
  <p:slideViewPr>
    <p:cSldViewPr snapToGrid="0">
      <p:cViewPr varScale="1">
        <p:scale>
          <a:sx n="88" d="100"/>
          <a:sy n="88" d="100"/>
        </p:scale>
        <p:origin x="876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63" Type="http://schemas.openxmlformats.org/officeDocument/2006/relationships/font" Target="fonts/font16.fntdata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6.fntdata"/><Relationship Id="rId58" Type="http://schemas.openxmlformats.org/officeDocument/2006/relationships/font" Target="fonts/font11.fntdata"/><Relationship Id="rId66" Type="http://schemas.openxmlformats.org/officeDocument/2006/relationships/font" Target="fonts/font19.fntdata"/><Relationship Id="rId5" Type="http://schemas.openxmlformats.org/officeDocument/2006/relationships/slide" Target="slides/slide4.xml"/><Relationship Id="rId61" Type="http://schemas.openxmlformats.org/officeDocument/2006/relationships/font" Target="fonts/font14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1.fntdata"/><Relationship Id="rId56" Type="http://schemas.openxmlformats.org/officeDocument/2006/relationships/font" Target="fonts/font9.fntdata"/><Relationship Id="rId64" Type="http://schemas.openxmlformats.org/officeDocument/2006/relationships/font" Target="fonts/font17.fntdata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2.fntdata"/><Relationship Id="rId67" Type="http://schemas.openxmlformats.org/officeDocument/2006/relationships/font" Target="fonts/font20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7.fntdata"/><Relationship Id="rId62" Type="http://schemas.openxmlformats.org/officeDocument/2006/relationships/font" Target="fonts/font15.fntdata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2.fntdata"/><Relationship Id="rId57" Type="http://schemas.openxmlformats.org/officeDocument/2006/relationships/font" Target="fonts/font10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5.fntdata"/><Relationship Id="rId60" Type="http://schemas.openxmlformats.org/officeDocument/2006/relationships/font" Target="fonts/font13.fntdata"/><Relationship Id="rId65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font" Target="fonts/font3.fntdata"/><Relationship Id="rId55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77a62897eb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77a62897eb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77a62897eb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77a62897eb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78dfac31ac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78dfac31ac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F09314C5-B06F-1572-5452-33462640E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54dda1946d_6_308:notes">
            <a:extLst>
              <a:ext uri="{FF2B5EF4-FFF2-40B4-BE49-F238E27FC236}">
                <a16:creationId xmlns:a16="http://schemas.microsoft.com/office/drawing/2014/main" id="{874A591E-8FF9-A7F7-E8F5-D489B23529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54dda1946d_6_308:notes">
            <a:extLst>
              <a:ext uri="{FF2B5EF4-FFF2-40B4-BE49-F238E27FC236}">
                <a16:creationId xmlns:a16="http://schemas.microsoft.com/office/drawing/2014/main" id="{357A91C9-23FC-1901-F8B9-82B817447B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79050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8319C01A-D6DA-3A7F-DC15-9E6506A34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78dfac31ac_0_13:notes">
            <a:extLst>
              <a:ext uri="{FF2B5EF4-FFF2-40B4-BE49-F238E27FC236}">
                <a16:creationId xmlns:a16="http://schemas.microsoft.com/office/drawing/2014/main" id="{B678C6CB-FDDD-9314-1A07-6CCC67D86E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78dfac31ac_0_13:notes">
            <a:extLst>
              <a:ext uri="{FF2B5EF4-FFF2-40B4-BE49-F238E27FC236}">
                <a16:creationId xmlns:a16="http://schemas.microsoft.com/office/drawing/2014/main" id="{3EC118D2-0E14-A9F8-C8D7-4A11542E2C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40697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02FA6E2A-9100-1CA3-1FAA-233CD0CB0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54dda1946d_6_308:notes">
            <a:extLst>
              <a:ext uri="{FF2B5EF4-FFF2-40B4-BE49-F238E27FC236}">
                <a16:creationId xmlns:a16="http://schemas.microsoft.com/office/drawing/2014/main" id="{C76F0F80-B09D-99BB-364D-30108F8F2C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54dda1946d_6_308:notes">
            <a:extLst>
              <a:ext uri="{FF2B5EF4-FFF2-40B4-BE49-F238E27FC236}">
                <a16:creationId xmlns:a16="http://schemas.microsoft.com/office/drawing/2014/main" id="{5C059DBD-B8AA-9164-E151-5CF41CFB95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27725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558E4DC5-6063-A3DC-D76F-85B33CD4D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54dda1946d_6_332:notes">
            <a:extLst>
              <a:ext uri="{FF2B5EF4-FFF2-40B4-BE49-F238E27FC236}">
                <a16:creationId xmlns:a16="http://schemas.microsoft.com/office/drawing/2014/main" id="{29AAC91D-CB82-98F2-D90C-2AB1A19459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54dda1946d_6_332:notes">
            <a:extLst>
              <a:ext uri="{FF2B5EF4-FFF2-40B4-BE49-F238E27FC236}">
                <a16:creationId xmlns:a16="http://schemas.microsoft.com/office/drawing/2014/main" id="{1A778EF3-4AB4-0286-C034-2BE2B06FF6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2672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78dfac31a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78dfac31a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EC7C10D1-BE42-16D9-E192-015225D8B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78dfac31ac_0_135:notes">
            <a:extLst>
              <a:ext uri="{FF2B5EF4-FFF2-40B4-BE49-F238E27FC236}">
                <a16:creationId xmlns:a16="http://schemas.microsoft.com/office/drawing/2014/main" id="{66CFCEF6-06E9-5A49-35E6-742FB3EDE3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78dfac31ac_0_135:notes">
            <a:extLst>
              <a:ext uri="{FF2B5EF4-FFF2-40B4-BE49-F238E27FC236}">
                <a16:creationId xmlns:a16="http://schemas.microsoft.com/office/drawing/2014/main" id="{9FFBCB60-8CB4-22A1-B2A6-BFF3C49F09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94831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71166220-5732-4791-82FD-619957743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54dda1946d_6_308:notes">
            <a:extLst>
              <a:ext uri="{FF2B5EF4-FFF2-40B4-BE49-F238E27FC236}">
                <a16:creationId xmlns:a16="http://schemas.microsoft.com/office/drawing/2014/main" id="{818DA9C0-E78F-EDA3-932A-17DEFD542C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54dda1946d_6_308:notes">
            <a:extLst>
              <a:ext uri="{FF2B5EF4-FFF2-40B4-BE49-F238E27FC236}">
                <a16:creationId xmlns:a16="http://schemas.microsoft.com/office/drawing/2014/main" id="{41A7973E-EF04-B26A-8E73-38825ACF3C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10531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78dfac31ac_0_3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278dfac31ac_0_3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>
          <a:extLst>
            <a:ext uri="{FF2B5EF4-FFF2-40B4-BE49-F238E27FC236}">
              <a16:creationId xmlns:a16="http://schemas.microsoft.com/office/drawing/2014/main" id="{93ABE772-2A48-E1C4-FD1D-B48AC380B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78dfac31ac_0_378:notes">
            <a:extLst>
              <a:ext uri="{FF2B5EF4-FFF2-40B4-BE49-F238E27FC236}">
                <a16:creationId xmlns:a16="http://schemas.microsoft.com/office/drawing/2014/main" id="{4A82E142-4661-7B4F-24A0-A67C5BEDFC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278dfac31ac_0_378:notes">
            <a:extLst>
              <a:ext uri="{FF2B5EF4-FFF2-40B4-BE49-F238E27FC236}">
                <a16:creationId xmlns:a16="http://schemas.microsoft.com/office/drawing/2014/main" id="{D700276A-558C-44E1-7F66-4696073E68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26647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>
          <a:extLst>
            <a:ext uri="{FF2B5EF4-FFF2-40B4-BE49-F238E27FC236}">
              <a16:creationId xmlns:a16="http://schemas.microsoft.com/office/drawing/2014/main" id="{630102C0-F0E7-C35C-47E2-A3CE10854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78dfac31ac_0_378:notes">
            <a:extLst>
              <a:ext uri="{FF2B5EF4-FFF2-40B4-BE49-F238E27FC236}">
                <a16:creationId xmlns:a16="http://schemas.microsoft.com/office/drawing/2014/main" id="{0208C61D-CBE8-9CA1-4086-28BC02402A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278dfac31ac_0_378:notes">
            <a:extLst>
              <a:ext uri="{FF2B5EF4-FFF2-40B4-BE49-F238E27FC236}">
                <a16:creationId xmlns:a16="http://schemas.microsoft.com/office/drawing/2014/main" id="{B0D67A32-8348-F6F5-82E6-8D1DC74BCB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27635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>
          <a:extLst>
            <a:ext uri="{FF2B5EF4-FFF2-40B4-BE49-F238E27FC236}">
              <a16:creationId xmlns:a16="http://schemas.microsoft.com/office/drawing/2014/main" id="{8C396194-B23D-3347-3F72-38CE06153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78dfac31ac_0_378:notes">
            <a:extLst>
              <a:ext uri="{FF2B5EF4-FFF2-40B4-BE49-F238E27FC236}">
                <a16:creationId xmlns:a16="http://schemas.microsoft.com/office/drawing/2014/main" id="{28A7D189-BA35-474B-E47E-AFEF811BEB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278dfac31ac_0_378:notes">
            <a:extLst>
              <a:ext uri="{FF2B5EF4-FFF2-40B4-BE49-F238E27FC236}">
                <a16:creationId xmlns:a16="http://schemas.microsoft.com/office/drawing/2014/main" id="{84B94F2C-588C-538D-8DD3-2F36A2723F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74302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78dfac31ac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78dfac31ac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FBF918FF-F158-DF3F-9525-AFC65B0E5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54dda1946d_6_308:notes">
            <a:extLst>
              <a:ext uri="{FF2B5EF4-FFF2-40B4-BE49-F238E27FC236}">
                <a16:creationId xmlns:a16="http://schemas.microsoft.com/office/drawing/2014/main" id="{7A44EC5C-620B-7F88-69EC-57BE50F3BA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54dda1946d_6_308:notes">
            <a:extLst>
              <a:ext uri="{FF2B5EF4-FFF2-40B4-BE49-F238E27FC236}">
                <a16:creationId xmlns:a16="http://schemas.microsoft.com/office/drawing/2014/main" id="{309A5587-0100-4FBD-47CD-3BAAAC4A65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21582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78dfac31ac_0_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78dfac31ac_0_3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>
          <a:extLst>
            <a:ext uri="{FF2B5EF4-FFF2-40B4-BE49-F238E27FC236}">
              <a16:creationId xmlns:a16="http://schemas.microsoft.com/office/drawing/2014/main" id="{1A214AFD-22E5-8DDF-9A79-E71D21798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78dfac31ac_0_345:notes">
            <a:extLst>
              <a:ext uri="{FF2B5EF4-FFF2-40B4-BE49-F238E27FC236}">
                <a16:creationId xmlns:a16="http://schemas.microsoft.com/office/drawing/2014/main" id="{6905216B-7F4E-E3A0-E147-2FAEB12262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78dfac31ac_0_345:notes">
            <a:extLst>
              <a:ext uri="{FF2B5EF4-FFF2-40B4-BE49-F238E27FC236}">
                <a16:creationId xmlns:a16="http://schemas.microsoft.com/office/drawing/2014/main" id="{4AB939AB-B8FB-B7F2-783A-CE7F200ECB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63533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>
          <a:extLst>
            <a:ext uri="{FF2B5EF4-FFF2-40B4-BE49-F238E27FC236}">
              <a16:creationId xmlns:a16="http://schemas.microsoft.com/office/drawing/2014/main" id="{3AB6EC55-2393-C2B8-CDF8-F16D4CEC6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78dfac31ac_0_345:notes">
            <a:extLst>
              <a:ext uri="{FF2B5EF4-FFF2-40B4-BE49-F238E27FC236}">
                <a16:creationId xmlns:a16="http://schemas.microsoft.com/office/drawing/2014/main" id="{25FDE869-5CA0-DBFE-78EE-EED1F5C334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78dfac31ac_0_345:notes">
            <a:extLst>
              <a:ext uri="{FF2B5EF4-FFF2-40B4-BE49-F238E27FC236}">
                <a16:creationId xmlns:a16="http://schemas.microsoft.com/office/drawing/2014/main" id="{73FAD11F-67C3-AF31-64A5-DC6C2A07E8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51562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>
          <a:extLst>
            <a:ext uri="{FF2B5EF4-FFF2-40B4-BE49-F238E27FC236}">
              <a16:creationId xmlns:a16="http://schemas.microsoft.com/office/drawing/2014/main" id="{273B4A46-9C91-4BE4-F45B-5F2CDC99D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78dfac31ac_0_345:notes">
            <a:extLst>
              <a:ext uri="{FF2B5EF4-FFF2-40B4-BE49-F238E27FC236}">
                <a16:creationId xmlns:a16="http://schemas.microsoft.com/office/drawing/2014/main" id="{BB576534-4590-5A21-4E2B-D4D493720C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78dfac31ac_0_345:notes">
            <a:extLst>
              <a:ext uri="{FF2B5EF4-FFF2-40B4-BE49-F238E27FC236}">
                <a16:creationId xmlns:a16="http://schemas.microsoft.com/office/drawing/2014/main" id="{76767383-5B0C-5081-9A48-C83C4CDC1B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47514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455A036C-D0CC-BC1C-06BC-F3CA342F3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54dda1946d_6_308:notes">
            <a:extLst>
              <a:ext uri="{FF2B5EF4-FFF2-40B4-BE49-F238E27FC236}">
                <a16:creationId xmlns:a16="http://schemas.microsoft.com/office/drawing/2014/main" id="{6E126AD4-6784-51C9-F465-FB10496F0E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54dda1946d_6_308:notes">
            <a:extLst>
              <a:ext uri="{FF2B5EF4-FFF2-40B4-BE49-F238E27FC236}">
                <a16:creationId xmlns:a16="http://schemas.microsoft.com/office/drawing/2014/main" id="{BB3C9CA8-8945-3CAF-8D8D-4747F43308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65726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>
          <a:extLst>
            <a:ext uri="{FF2B5EF4-FFF2-40B4-BE49-F238E27FC236}">
              <a16:creationId xmlns:a16="http://schemas.microsoft.com/office/drawing/2014/main" id="{5B038A7A-4FAB-E558-D401-C7C90364A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78dfac31ac_0_378:notes">
            <a:extLst>
              <a:ext uri="{FF2B5EF4-FFF2-40B4-BE49-F238E27FC236}">
                <a16:creationId xmlns:a16="http://schemas.microsoft.com/office/drawing/2014/main" id="{0E6F0A3C-6955-178A-EAE0-0EB9FEDC8E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278dfac31ac_0_378:notes">
            <a:extLst>
              <a:ext uri="{FF2B5EF4-FFF2-40B4-BE49-F238E27FC236}">
                <a16:creationId xmlns:a16="http://schemas.microsoft.com/office/drawing/2014/main" id="{BAD8A0F3-CCA7-8FD0-C85E-7692131EB9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18757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E5D4738C-241D-163A-09C3-59C9AF6DC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54dda1946d_6_308:notes">
            <a:extLst>
              <a:ext uri="{FF2B5EF4-FFF2-40B4-BE49-F238E27FC236}">
                <a16:creationId xmlns:a16="http://schemas.microsoft.com/office/drawing/2014/main" id="{1B4015CC-4F8A-812B-1CCE-9360075E5A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54dda1946d_6_308:notes">
            <a:extLst>
              <a:ext uri="{FF2B5EF4-FFF2-40B4-BE49-F238E27FC236}">
                <a16:creationId xmlns:a16="http://schemas.microsoft.com/office/drawing/2014/main" id="{BBEAE3A6-0D92-90A3-4D0C-B8415882D7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10476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>
          <a:extLst>
            <a:ext uri="{FF2B5EF4-FFF2-40B4-BE49-F238E27FC236}">
              <a16:creationId xmlns:a16="http://schemas.microsoft.com/office/drawing/2014/main" id="{5E23E08B-6060-78B7-3CEB-2BE133B5E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78dfac31ac_0_378:notes">
            <a:extLst>
              <a:ext uri="{FF2B5EF4-FFF2-40B4-BE49-F238E27FC236}">
                <a16:creationId xmlns:a16="http://schemas.microsoft.com/office/drawing/2014/main" id="{CC39371B-B9AA-5ACE-9D7E-14AC64F492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278dfac31ac_0_378:notes">
            <a:extLst>
              <a:ext uri="{FF2B5EF4-FFF2-40B4-BE49-F238E27FC236}">
                <a16:creationId xmlns:a16="http://schemas.microsoft.com/office/drawing/2014/main" id="{BAA576FA-BD19-03B3-B56C-58968AD89F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79380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>
          <a:extLst>
            <a:ext uri="{FF2B5EF4-FFF2-40B4-BE49-F238E27FC236}">
              <a16:creationId xmlns:a16="http://schemas.microsoft.com/office/drawing/2014/main" id="{4EAFE88D-982C-6F19-84F2-29CF79797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78dfac31ac_0_378:notes">
            <a:extLst>
              <a:ext uri="{FF2B5EF4-FFF2-40B4-BE49-F238E27FC236}">
                <a16:creationId xmlns:a16="http://schemas.microsoft.com/office/drawing/2014/main" id="{C561AB8D-5F3A-B3FE-4ABC-67108AA007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278dfac31ac_0_378:notes">
            <a:extLst>
              <a:ext uri="{FF2B5EF4-FFF2-40B4-BE49-F238E27FC236}">
                <a16:creationId xmlns:a16="http://schemas.microsoft.com/office/drawing/2014/main" id="{B44834A8-693B-CAFC-9519-3E165C2037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06897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>
          <a:extLst>
            <a:ext uri="{FF2B5EF4-FFF2-40B4-BE49-F238E27FC236}">
              <a16:creationId xmlns:a16="http://schemas.microsoft.com/office/drawing/2014/main" id="{30A5D130-C4CD-A534-E21A-852B00E95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78dfac31ac_0_378:notes">
            <a:extLst>
              <a:ext uri="{FF2B5EF4-FFF2-40B4-BE49-F238E27FC236}">
                <a16:creationId xmlns:a16="http://schemas.microsoft.com/office/drawing/2014/main" id="{52CB90AE-799A-B161-0288-1D9249E390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278dfac31ac_0_378:notes">
            <a:extLst>
              <a:ext uri="{FF2B5EF4-FFF2-40B4-BE49-F238E27FC236}">
                <a16:creationId xmlns:a16="http://schemas.microsoft.com/office/drawing/2014/main" id="{359C8526-E740-3CAF-F085-C49176D282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8017535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AAE68B1F-DAE7-A873-563B-4BE7C0FAF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54dda1946d_6_308:notes">
            <a:extLst>
              <a:ext uri="{FF2B5EF4-FFF2-40B4-BE49-F238E27FC236}">
                <a16:creationId xmlns:a16="http://schemas.microsoft.com/office/drawing/2014/main" id="{3AE29C37-7F4A-DFFC-346B-A509E42004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54dda1946d_6_308:notes">
            <a:extLst>
              <a:ext uri="{FF2B5EF4-FFF2-40B4-BE49-F238E27FC236}">
                <a16:creationId xmlns:a16="http://schemas.microsoft.com/office/drawing/2014/main" id="{DB5882DB-5EF0-B87D-592F-0CC8D26B6D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903797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78dfac31ac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78dfac31ac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>
          <a:extLst>
            <a:ext uri="{FF2B5EF4-FFF2-40B4-BE49-F238E27FC236}">
              <a16:creationId xmlns:a16="http://schemas.microsoft.com/office/drawing/2014/main" id="{EE7BF968-E0D4-2DB1-926E-C60BB01E4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78dfac31ac_0_378:notes">
            <a:extLst>
              <a:ext uri="{FF2B5EF4-FFF2-40B4-BE49-F238E27FC236}">
                <a16:creationId xmlns:a16="http://schemas.microsoft.com/office/drawing/2014/main" id="{A0E9BBFC-C7EF-718D-4C4C-A2655C6F79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278dfac31ac_0_378:notes">
            <a:extLst>
              <a:ext uri="{FF2B5EF4-FFF2-40B4-BE49-F238E27FC236}">
                <a16:creationId xmlns:a16="http://schemas.microsoft.com/office/drawing/2014/main" id="{EEC3024C-5893-94E2-1C35-1D6214F8C6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3016640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739A72E0-E102-071B-D3A8-20C0C8AFF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54dda1946d_6_308:notes">
            <a:extLst>
              <a:ext uri="{FF2B5EF4-FFF2-40B4-BE49-F238E27FC236}">
                <a16:creationId xmlns:a16="http://schemas.microsoft.com/office/drawing/2014/main" id="{0A59071B-B705-6C9E-3292-2D5E5A91E0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54dda1946d_6_308:notes">
            <a:extLst>
              <a:ext uri="{FF2B5EF4-FFF2-40B4-BE49-F238E27FC236}">
                <a16:creationId xmlns:a16="http://schemas.microsoft.com/office/drawing/2014/main" id="{3E9F01D0-53DC-34FF-06CB-71C8010A05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67665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>
          <a:extLst>
            <a:ext uri="{FF2B5EF4-FFF2-40B4-BE49-F238E27FC236}">
              <a16:creationId xmlns:a16="http://schemas.microsoft.com/office/drawing/2014/main" id="{FDEC2DBA-5676-F4BA-93EB-E8DBD5521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78dfac31ac_0_345:notes">
            <a:extLst>
              <a:ext uri="{FF2B5EF4-FFF2-40B4-BE49-F238E27FC236}">
                <a16:creationId xmlns:a16="http://schemas.microsoft.com/office/drawing/2014/main" id="{5FFE4233-CA22-B8B3-240E-346B4DCD1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78dfac31ac_0_345:notes">
            <a:extLst>
              <a:ext uri="{FF2B5EF4-FFF2-40B4-BE49-F238E27FC236}">
                <a16:creationId xmlns:a16="http://schemas.microsoft.com/office/drawing/2014/main" id="{DBB03F8C-749A-EABD-CAE8-E445A0BF5E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885307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>
          <a:extLst>
            <a:ext uri="{FF2B5EF4-FFF2-40B4-BE49-F238E27FC236}">
              <a16:creationId xmlns:a16="http://schemas.microsoft.com/office/drawing/2014/main" id="{C0CE944D-8E69-B9F3-E5B2-DF8BF4A45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78dfac31ac_0_345:notes">
            <a:extLst>
              <a:ext uri="{FF2B5EF4-FFF2-40B4-BE49-F238E27FC236}">
                <a16:creationId xmlns:a16="http://schemas.microsoft.com/office/drawing/2014/main" id="{8905C36A-3E55-5AC8-6DE2-B8FA2B4440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78dfac31ac_0_345:notes">
            <a:extLst>
              <a:ext uri="{FF2B5EF4-FFF2-40B4-BE49-F238E27FC236}">
                <a16:creationId xmlns:a16="http://schemas.microsoft.com/office/drawing/2014/main" id="{086C467C-BA1A-B998-4FDB-8AA7B9CAFB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717567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F258B8BE-E9A4-E383-E463-0C5FAB5B6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54dda1946d_6_308:notes">
            <a:extLst>
              <a:ext uri="{FF2B5EF4-FFF2-40B4-BE49-F238E27FC236}">
                <a16:creationId xmlns:a16="http://schemas.microsoft.com/office/drawing/2014/main" id="{1F46407A-4664-4B6C-A7C7-C12A06422F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54dda1946d_6_308:notes">
            <a:extLst>
              <a:ext uri="{FF2B5EF4-FFF2-40B4-BE49-F238E27FC236}">
                <a16:creationId xmlns:a16="http://schemas.microsoft.com/office/drawing/2014/main" id="{19C8C8C7-706C-282C-CD63-49748BDF6E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068770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>
          <a:extLst>
            <a:ext uri="{FF2B5EF4-FFF2-40B4-BE49-F238E27FC236}">
              <a16:creationId xmlns:a16="http://schemas.microsoft.com/office/drawing/2014/main" id="{6CD0B3B2-A107-AB94-4BB1-280217172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78dfac31ac_0_378:notes">
            <a:extLst>
              <a:ext uri="{FF2B5EF4-FFF2-40B4-BE49-F238E27FC236}">
                <a16:creationId xmlns:a16="http://schemas.microsoft.com/office/drawing/2014/main" id="{86C96B2D-9795-0DE4-2424-48C775FBD7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278dfac31ac_0_378:notes">
            <a:extLst>
              <a:ext uri="{FF2B5EF4-FFF2-40B4-BE49-F238E27FC236}">
                <a16:creationId xmlns:a16="http://schemas.microsoft.com/office/drawing/2014/main" id="{DDB65060-44C3-6D29-C8D5-947A31A0FB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1101793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A05F56AC-E9BC-0EE8-C003-24FFAE314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54dda1946d_6_308:notes">
            <a:extLst>
              <a:ext uri="{FF2B5EF4-FFF2-40B4-BE49-F238E27FC236}">
                <a16:creationId xmlns:a16="http://schemas.microsoft.com/office/drawing/2014/main" id="{CED07563-65DE-7528-5505-A43A4699FD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54dda1946d_6_308:notes">
            <a:extLst>
              <a:ext uri="{FF2B5EF4-FFF2-40B4-BE49-F238E27FC236}">
                <a16:creationId xmlns:a16="http://schemas.microsoft.com/office/drawing/2014/main" id="{AA361229-7062-55BC-B07F-F846AF86E8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333407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78dfac31ac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78dfac31ac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>
          <a:extLst>
            <a:ext uri="{FF2B5EF4-FFF2-40B4-BE49-F238E27FC236}">
              <a16:creationId xmlns:a16="http://schemas.microsoft.com/office/drawing/2014/main" id="{DF2D97C0-E392-7955-2013-E805EEC38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78dfac31ac_0_179:notes">
            <a:extLst>
              <a:ext uri="{FF2B5EF4-FFF2-40B4-BE49-F238E27FC236}">
                <a16:creationId xmlns:a16="http://schemas.microsoft.com/office/drawing/2014/main" id="{CA3E92D3-DB3C-8291-1026-A9A2E37906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78dfac31ac_0_179:notes">
            <a:extLst>
              <a:ext uri="{FF2B5EF4-FFF2-40B4-BE49-F238E27FC236}">
                <a16:creationId xmlns:a16="http://schemas.microsoft.com/office/drawing/2014/main" id="{7582045A-2BDC-47C3-A2F3-85DF4BF5D0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008616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4EDE2F19-4A90-2D7D-1FB8-B3FAF2A6F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54dda1946d_6_308:notes">
            <a:extLst>
              <a:ext uri="{FF2B5EF4-FFF2-40B4-BE49-F238E27FC236}">
                <a16:creationId xmlns:a16="http://schemas.microsoft.com/office/drawing/2014/main" id="{51FE8BA3-9DFF-EB1F-CEA4-2B3C6782CE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54dda1946d_6_308:notes">
            <a:extLst>
              <a:ext uri="{FF2B5EF4-FFF2-40B4-BE49-F238E27FC236}">
                <a16:creationId xmlns:a16="http://schemas.microsoft.com/office/drawing/2014/main" id="{7BC9A287-D10C-F697-7A47-A9B7279994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596357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>
          <a:extLst>
            <a:ext uri="{FF2B5EF4-FFF2-40B4-BE49-F238E27FC236}">
              <a16:creationId xmlns:a16="http://schemas.microsoft.com/office/drawing/2014/main" id="{9E981E8F-457B-65D0-F01B-334630F77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78dfac31ac_0_378:notes">
            <a:extLst>
              <a:ext uri="{FF2B5EF4-FFF2-40B4-BE49-F238E27FC236}">
                <a16:creationId xmlns:a16="http://schemas.microsoft.com/office/drawing/2014/main" id="{A2BE2681-926E-2D36-7310-0120934B23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278dfac31ac_0_378:notes">
            <a:extLst>
              <a:ext uri="{FF2B5EF4-FFF2-40B4-BE49-F238E27FC236}">
                <a16:creationId xmlns:a16="http://schemas.microsoft.com/office/drawing/2014/main" id="{D5AA5FF1-04D6-BBA4-09E4-EADA112759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87589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>
          <a:extLst>
            <a:ext uri="{FF2B5EF4-FFF2-40B4-BE49-F238E27FC236}">
              <a16:creationId xmlns:a16="http://schemas.microsoft.com/office/drawing/2014/main" id="{D7EA0D4E-8F07-CABF-F105-FD9459244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78dfac31ac_0_378:notes">
            <a:extLst>
              <a:ext uri="{FF2B5EF4-FFF2-40B4-BE49-F238E27FC236}">
                <a16:creationId xmlns:a16="http://schemas.microsoft.com/office/drawing/2014/main" id="{4092133A-6EE6-D81B-2BE9-05B34E766D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278dfac31ac_0_378:notes">
            <a:extLst>
              <a:ext uri="{FF2B5EF4-FFF2-40B4-BE49-F238E27FC236}">
                <a16:creationId xmlns:a16="http://schemas.microsoft.com/office/drawing/2014/main" id="{11DA3164-6597-AD16-783A-C9E53E9EA2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342175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78dfac31ac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78dfac31ac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>
          <a:extLst>
            <a:ext uri="{FF2B5EF4-FFF2-40B4-BE49-F238E27FC236}">
              <a16:creationId xmlns:a16="http://schemas.microsoft.com/office/drawing/2014/main" id="{A440790B-B2AB-0E39-DA6F-6AC6E7090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54dda1946d_4_2720:notes">
            <a:extLst>
              <a:ext uri="{FF2B5EF4-FFF2-40B4-BE49-F238E27FC236}">
                <a16:creationId xmlns:a16="http://schemas.microsoft.com/office/drawing/2014/main" id="{1022CA1A-3571-300B-CA36-63CD00F53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54dda1946d_4_2720:notes">
            <a:extLst>
              <a:ext uri="{FF2B5EF4-FFF2-40B4-BE49-F238E27FC236}">
                <a16:creationId xmlns:a16="http://schemas.microsoft.com/office/drawing/2014/main" id="{70C0295B-F983-6298-466B-116320C59A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7888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5658650" y="75"/>
            <a:ext cx="3485400" cy="4228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0" y="906650"/>
            <a:ext cx="7084800" cy="2066700"/>
          </a:xfrm>
          <a:prstGeom prst="rect">
            <a:avLst/>
          </a:prstGeom>
          <a:solidFill>
            <a:srgbClr val="D6CCC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000" b="1"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225" y="3495675"/>
            <a:ext cx="2721300" cy="732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2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0" y="75"/>
            <a:ext cx="5003100" cy="287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360875" y="2232350"/>
            <a:ext cx="5783100" cy="19125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3360875" y="1052400"/>
            <a:ext cx="1642200" cy="97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/>
          <p:nvPr/>
        </p:nvSpPr>
        <p:spPr>
          <a:xfrm>
            <a:off x="6951825" y="-150"/>
            <a:ext cx="2192100" cy="5143500"/>
          </a:xfrm>
          <a:prstGeom prst="rect">
            <a:avLst/>
          </a:prstGeom>
          <a:solidFill>
            <a:srgbClr val="EDED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1"/>
          </p:nvPr>
        </p:nvSpPr>
        <p:spPr>
          <a:xfrm>
            <a:off x="3699274" y="2650350"/>
            <a:ext cx="2505600" cy="149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2"/>
          </p:nvPr>
        </p:nvSpPr>
        <p:spPr>
          <a:xfrm>
            <a:off x="720000" y="2650350"/>
            <a:ext cx="2505600" cy="149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3"/>
          </p:nvPr>
        </p:nvSpPr>
        <p:spPr>
          <a:xfrm>
            <a:off x="720000" y="2113902"/>
            <a:ext cx="2505600" cy="48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4"/>
          </p:nvPr>
        </p:nvSpPr>
        <p:spPr>
          <a:xfrm>
            <a:off x="3699275" y="2113902"/>
            <a:ext cx="2505600" cy="48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  <a:solidFill>
            <a:srgbClr val="D6CCC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7319600" y="-150"/>
            <a:ext cx="1824300" cy="3519900"/>
          </a:xfrm>
          <a:prstGeom prst="rect">
            <a:avLst/>
          </a:prstGeom>
          <a:solidFill>
            <a:srgbClr val="EDED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  <a:solidFill>
            <a:srgbClr val="D6CCC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5165625" y="2225550"/>
            <a:ext cx="3978300" cy="2917800"/>
          </a:xfrm>
          <a:prstGeom prst="rect">
            <a:avLst/>
          </a:prstGeom>
          <a:solidFill>
            <a:srgbClr val="EDED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" name="Google Shape;32;p7"/>
          <p:cNvSpPr txBox="1">
            <a:spLocks noGrp="1"/>
          </p:cNvSpPr>
          <p:nvPr>
            <p:ph type="subTitle" idx="1"/>
          </p:nvPr>
        </p:nvSpPr>
        <p:spPr>
          <a:xfrm>
            <a:off x="720000" y="1366450"/>
            <a:ext cx="39783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>
            <a:spLocks noGrp="1"/>
          </p:cNvSpPr>
          <p:nvPr>
            <p:ph type="pic" idx="2"/>
          </p:nvPr>
        </p:nvSpPr>
        <p:spPr>
          <a:xfrm>
            <a:off x="5643775" y="1100050"/>
            <a:ext cx="2787000" cy="350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  <a:solidFill>
            <a:srgbClr val="D6CCC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7088800" y="539500"/>
            <a:ext cx="2055300" cy="460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2217300" y="1838150"/>
            <a:ext cx="6926700" cy="14673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2473500" y="1189100"/>
            <a:ext cx="6670500" cy="1964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2473500" y="3153500"/>
            <a:ext cx="36756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/>
          <p:nvPr/>
        </p:nvSpPr>
        <p:spPr>
          <a:xfrm>
            <a:off x="0" y="100"/>
            <a:ext cx="2055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2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/>
          <p:nvPr/>
        </p:nvSpPr>
        <p:spPr>
          <a:xfrm>
            <a:off x="4843075" y="75"/>
            <a:ext cx="4301100" cy="357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0" y="1442700"/>
            <a:ext cx="6576000" cy="1628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subTitle" idx="1"/>
          </p:nvPr>
        </p:nvSpPr>
        <p:spPr>
          <a:xfrm>
            <a:off x="713225" y="3275225"/>
            <a:ext cx="58629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6951825" y="-150"/>
            <a:ext cx="2192100" cy="5143500"/>
          </a:xfrm>
          <a:prstGeom prst="rect">
            <a:avLst/>
          </a:prstGeom>
          <a:solidFill>
            <a:srgbClr val="EDED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  <a:solidFill>
            <a:srgbClr val="D6CCC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468682"/>
            <a:ext cx="734700" cy="344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 b="1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1454700" y="1468672"/>
            <a:ext cx="3035100" cy="3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 idx="3" hasCustomPrompt="1"/>
          </p:nvPr>
        </p:nvSpPr>
        <p:spPr>
          <a:xfrm>
            <a:off x="720000" y="2026804"/>
            <a:ext cx="734700" cy="344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 b="1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4"/>
          </p:nvPr>
        </p:nvSpPr>
        <p:spPr>
          <a:xfrm>
            <a:off x="1454700" y="2026797"/>
            <a:ext cx="3035100" cy="3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5" hasCustomPrompt="1"/>
          </p:nvPr>
        </p:nvSpPr>
        <p:spPr>
          <a:xfrm>
            <a:off x="720000" y="2584927"/>
            <a:ext cx="734700" cy="344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 b="1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6"/>
          </p:nvPr>
        </p:nvSpPr>
        <p:spPr>
          <a:xfrm>
            <a:off x="1454700" y="2584922"/>
            <a:ext cx="3035100" cy="3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title" idx="7" hasCustomPrompt="1"/>
          </p:nvPr>
        </p:nvSpPr>
        <p:spPr>
          <a:xfrm>
            <a:off x="720000" y="3143052"/>
            <a:ext cx="734700" cy="344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 b="1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8"/>
          </p:nvPr>
        </p:nvSpPr>
        <p:spPr>
          <a:xfrm>
            <a:off x="1454700" y="3143047"/>
            <a:ext cx="3035100" cy="3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title" idx="9" hasCustomPrompt="1"/>
          </p:nvPr>
        </p:nvSpPr>
        <p:spPr>
          <a:xfrm>
            <a:off x="720000" y="3701177"/>
            <a:ext cx="734700" cy="344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 b="1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13"/>
          </p:nvPr>
        </p:nvSpPr>
        <p:spPr>
          <a:xfrm>
            <a:off x="1454700" y="3701172"/>
            <a:ext cx="3035100" cy="3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14" hasCustomPrompt="1"/>
          </p:nvPr>
        </p:nvSpPr>
        <p:spPr>
          <a:xfrm>
            <a:off x="720000" y="4259302"/>
            <a:ext cx="734700" cy="344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 b="1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5"/>
          </p:nvPr>
        </p:nvSpPr>
        <p:spPr>
          <a:xfrm>
            <a:off x="1454700" y="4259297"/>
            <a:ext cx="3035100" cy="3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  <a:solidFill>
            <a:srgbClr val="D6CCC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/>
          <p:nvPr/>
        </p:nvSpPr>
        <p:spPr>
          <a:xfrm>
            <a:off x="0" y="-150"/>
            <a:ext cx="1626600" cy="5143500"/>
          </a:xfrm>
          <a:prstGeom prst="rect">
            <a:avLst/>
          </a:prstGeom>
          <a:solidFill>
            <a:srgbClr val="EDED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  <a:solidFill>
            <a:srgbClr val="D6CCC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/>
          <p:nvPr/>
        </p:nvSpPr>
        <p:spPr>
          <a:xfrm>
            <a:off x="0" y="-150"/>
            <a:ext cx="1626600" cy="5143500"/>
          </a:xfrm>
          <a:prstGeom prst="rect">
            <a:avLst/>
          </a:prstGeom>
          <a:solidFill>
            <a:srgbClr val="EDED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2" name="Google Shape;92;p19"/>
          <p:cNvSpPr txBox="1">
            <a:spLocks noGrp="1"/>
          </p:cNvSpPr>
          <p:nvPr>
            <p:ph type="subTitle" idx="1"/>
          </p:nvPr>
        </p:nvSpPr>
        <p:spPr>
          <a:xfrm>
            <a:off x="1800525" y="1735625"/>
            <a:ext cx="31095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subTitle" idx="2"/>
          </p:nvPr>
        </p:nvSpPr>
        <p:spPr>
          <a:xfrm>
            <a:off x="5314500" y="1735625"/>
            <a:ext cx="31095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ubTitle" idx="3"/>
          </p:nvPr>
        </p:nvSpPr>
        <p:spPr>
          <a:xfrm>
            <a:off x="1800525" y="3396200"/>
            <a:ext cx="31095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9"/>
          <p:cNvSpPr txBox="1">
            <a:spLocks noGrp="1"/>
          </p:cNvSpPr>
          <p:nvPr>
            <p:ph type="subTitle" idx="4"/>
          </p:nvPr>
        </p:nvSpPr>
        <p:spPr>
          <a:xfrm>
            <a:off x="5314500" y="3396200"/>
            <a:ext cx="31095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subTitle" idx="5"/>
          </p:nvPr>
        </p:nvSpPr>
        <p:spPr>
          <a:xfrm>
            <a:off x="1800526" y="1285875"/>
            <a:ext cx="3109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ubTitle" idx="6"/>
          </p:nvPr>
        </p:nvSpPr>
        <p:spPr>
          <a:xfrm>
            <a:off x="1800526" y="2946675"/>
            <a:ext cx="3109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subTitle" idx="7"/>
          </p:nvPr>
        </p:nvSpPr>
        <p:spPr>
          <a:xfrm>
            <a:off x="5314475" y="1285875"/>
            <a:ext cx="3109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subTitle" idx="8"/>
          </p:nvPr>
        </p:nvSpPr>
        <p:spPr>
          <a:xfrm>
            <a:off x="5314475" y="2946675"/>
            <a:ext cx="3109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  <a:solidFill>
            <a:srgbClr val="D6CCC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/>
          <p:nvPr/>
        </p:nvSpPr>
        <p:spPr>
          <a:xfrm>
            <a:off x="6058450" y="-150"/>
            <a:ext cx="3085500" cy="2873700"/>
          </a:xfrm>
          <a:prstGeom prst="rect">
            <a:avLst/>
          </a:prstGeom>
          <a:solidFill>
            <a:srgbClr val="EDED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3" name="Google Shape;103;p20"/>
          <p:cNvSpPr txBox="1">
            <a:spLocks noGrp="1"/>
          </p:cNvSpPr>
          <p:nvPr>
            <p:ph type="subTitle" idx="1"/>
          </p:nvPr>
        </p:nvSpPr>
        <p:spPr>
          <a:xfrm>
            <a:off x="720000" y="1710160"/>
            <a:ext cx="22335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subTitle" idx="2"/>
          </p:nvPr>
        </p:nvSpPr>
        <p:spPr>
          <a:xfrm>
            <a:off x="3455250" y="1710160"/>
            <a:ext cx="22335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subTitle" idx="3"/>
          </p:nvPr>
        </p:nvSpPr>
        <p:spPr>
          <a:xfrm>
            <a:off x="720000" y="3440454"/>
            <a:ext cx="22335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subTitle" idx="4"/>
          </p:nvPr>
        </p:nvSpPr>
        <p:spPr>
          <a:xfrm>
            <a:off x="3455250" y="3440454"/>
            <a:ext cx="22335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subTitle" idx="5"/>
          </p:nvPr>
        </p:nvSpPr>
        <p:spPr>
          <a:xfrm>
            <a:off x="6190500" y="1710160"/>
            <a:ext cx="22335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subTitle" idx="6"/>
          </p:nvPr>
        </p:nvSpPr>
        <p:spPr>
          <a:xfrm>
            <a:off x="6190500" y="3440454"/>
            <a:ext cx="22335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subTitle" idx="7"/>
          </p:nvPr>
        </p:nvSpPr>
        <p:spPr>
          <a:xfrm>
            <a:off x="720000" y="1336275"/>
            <a:ext cx="2233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0" name="Google Shape;110;p20"/>
          <p:cNvSpPr txBox="1">
            <a:spLocks noGrp="1"/>
          </p:cNvSpPr>
          <p:nvPr>
            <p:ph type="subTitle" idx="8"/>
          </p:nvPr>
        </p:nvSpPr>
        <p:spPr>
          <a:xfrm>
            <a:off x="3455250" y="1336275"/>
            <a:ext cx="2231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1" name="Google Shape;111;p20"/>
          <p:cNvSpPr txBox="1">
            <a:spLocks noGrp="1"/>
          </p:cNvSpPr>
          <p:nvPr>
            <p:ph type="subTitle" idx="9"/>
          </p:nvPr>
        </p:nvSpPr>
        <p:spPr>
          <a:xfrm>
            <a:off x="6190500" y="1336275"/>
            <a:ext cx="2231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subTitle" idx="13"/>
          </p:nvPr>
        </p:nvSpPr>
        <p:spPr>
          <a:xfrm>
            <a:off x="720000" y="3063351"/>
            <a:ext cx="2233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subTitle" idx="14"/>
          </p:nvPr>
        </p:nvSpPr>
        <p:spPr>
          <a:xfrm>
            <a:off x="3455250" y="3063356"/>
            <a:ext cx="2231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4" name="Google Shape;114;p20"/>
          <p:cNvSpPr txBox="1">
            <a:spLocks noGrp="1"/>
          </p:cNvSpPr>
          <p:nvPr>
            <p:ph type="subTitle" idx="15"/>
          </p:nvPr>
        </p:nvSpPr>
        <p:spPr>
          <a:xfrm>
            <a:off x="6190500" y="3063356"/>
            <a:ext cx="2231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5" name="Google Shape;115;p20"/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  <a:solidFill>
            <a:srgbClr val="D6CCC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/>
          <p:nvPr/>
        </p:nvSpPr>
        <p:spPr>
          <a:xfrm>
            <a:off x="0" y="75"/>
            <a:ext cx="5003100" cy="460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2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/>
          <p:nvPr/>
        </p:nvSpPr>
        <p:spPr>
          <a:xfrm>
            <a:off x="0" y="915000"/>
            <a:ext cx="3485400" cy="4228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5" r:id="rId14"/>
    <p:sldLayoutId id="2147483666" r:id="rId15"/>
    <p:sldLayoutId id="2147483669" r:id="rId16"/>
    <p:sldLayoutId id="2147483670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jraset.com/research-paper/predicting-shelf-life-of-fruits-a-multifactorial-approach-using-intrinsic" TargetMode="External"/><Relationship Id="rId3" Type="http://schemas.openxmlformats.org/officeDocument/2006/relationships/hyperlink" Target="https://www.mdpi.com/" TargetMode="External"/><Relationship Id="rId7" Type="http://schemas.openxmlformats.org/officeDocument/2006/relationships/hyperlink" Target="https://pmc.ncbi.nlm.nih.gov/articles/PMC8802332/" TargetMode="Externa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sciencedirect.com/" TargetMode="External"/><Relationship Id="rId5" Type="http://schemas.openxmlformats.org/officeDocument/2006/relationships/hyperlink" Target="https://ieeexplore.ieee.org/" TargetMode="External"/><Relationship Id="rId10" Type="http://schemas.openxmlformats.org/officeDocument/2006/relationships/hyperlink" Target="https://extension.umaine.edu/publications/4135e/" TargetMode="External"/><Relationship Id="rId4" Type="http://schemas.openxmlformats.org/officeDocument/2006/relationships/hyperlink" Target="https://ag.purdue.edu/news/2025/09/consumers-mostly-support-ai-tools-to-improve-food-and-agriculture.html" TargetMode="External"/><Relationship Id="rId9" Type="http://schemas.openxmlformats.org/officeDocument/2006/relationships/hyperlink" Target="https://pmc.ncbi.nlm.nih.gov/articles/PMC718090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>
            <a:spLocks noGrp="1"/>
          </p:cNvSpPr>
          <p:nvPr>
            <p:ph type="ctrTitle"/>
          </p:nvPr>
        </p:nvSpPr>
        <p:spPr>
          <a:xfrm>
            <a:off x="0" y="906650"/>
            <a:ext cx="7084800" cy="2066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82295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Final Project Proposal</a:t>
            </a:r>
            <a:endParaRPr dirty="0"/>
          </a:p>
        </p:txBody>
      </p:sp>
      <p:sp>
        <p:nvSpPr>
          <p:cNvPr id="144" name="Google Shape;144;p28"/>
          <p:cNvSpPr txBox="1">
            <a:spLocks noGrp="1"/>
          </p:cNvSpPr>
          <p:nvPr>
            <p:ph type="subTitle" idx="1"/>
          </p:nvPr>
        </p:nvSpPr>
        <p:spPr>
          <a:xfrm>
            <a:off x="713225" y="3495675"/>
            <a:ext cx="2721300" cy="7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Abdullah Abdul Haleem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CL/BSCDS/CMU/09/25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0"/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59" name="Google Shape;159;p30"/>
          <p:cNvSpPr txBox="1">
            <a:spLocks noGrp="1"/>
          </p:cNvSpPr>
          <p:nvPr>
            <p:ph type="title" idx="2"/>
          </p:nvPr>
        </p:nvSpPr>
        <p:spPr>
          <a:xfrm>
            <a:off x="720000" y="1468682"/>
            <a:ext cx="734700" cy="3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60" name="Google Shape;160;p30"/>
          <p:cNvSpPr txBox="1">
            <a:spLocks noGrp="1"/>
          </p:cNvSpPr>
          <p:nvPr>
            <p:ph type="subTitle" idx="1"/>
          </p:nvPr>
        </p:nvSpPr>
        <p:spPr>
          <a:xfrm>
            <a:off x="1454700" y="1468672"/>
            <a:ext cx="3035100" cy="3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Introduction</a:t>
            </a:r>
            <a:endParaRPr dirty="0"/>
          </a:p>
        </p:txBody>
      </p:sp>
      <p:sp>
        <p:nvSpPr>
          <p:cNvPr id="161" name="Google Shape;161;p30"/>
          <p:cNvSpPr txBox="1">
            <a:spLocks noGrp="1"/>
          </p:cNvSpPr>
          <p:nvPr>
            <p:ph type="title" idx="3"/>
          </p:nvPr>
        </p:nvSpPr>
        <p:spPr>
          <a:xfrm>
            <a:off x="720000" y="2026804"/>
            <a:ext cx="734700" cy="3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62" name="Google Shape;162;p30"/>
          <p:cNvSpPr txBox="1">
            <a:spLocks noGrp="1"/>
          </p:cNvSpPr>
          <p:nvPr>
            <p:ph type="subTitle" idx="4"/>
          </p:nvPr>
        </p:nvSpPr>
        <p:spPr>
          <a:xfrm>
            <a:off x="1454699" y="2026797"/>
            <a:ext cx="4380043" cy="3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Problem Statement &amp; Objectives</a:t>
            </a:r>
            <a:endParaRPr dirty="0"/>
          </a:p>
        </p:txBody>
      </p:sp>
      <p:sp>
        <p:nvSpPr>
          <p:cNvPr id="163" name="Google Shape;163;p30"/>
          <p:cNvSpPr txBox="1">
            <a:spLocks noGrp="1"/>
          </p:cNvSpPr>
          <p:nvPr>
            <p:ph type="title" idx="5"/>
          </p:nvPr>
        </p:nvSpPr>
        <p:spPr>
          <a:xfrm>
            <a:off x="720000" y="2584927"/>
            <a:ext cx="734700" cy="3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64" name="Google Shape;164;p30"/>
          <p:cNvSpPr txBox="1">
            <a:spLocks noGrp="1"/>
          </p:cNvSpPr>
          <p:nvPr>
            <p:ph type="subTitle" idx="6"/>
          </p:nvPr>
        </p:nvSpPr>
        <p:spPr>
          <a:xfrm>
            <a:off x="1454700" y="2584922"/>
            <a:ext cx="6195236" cy="3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Proposed Solution &amp; Methodology</a:t>
            </a:r>
            <a:endParaRPr dirty="0"/>
          </a:p>
        </p:txBody>
      </p:sp>
      <p:sp>
        <p:nvSpPr>
          <p:cNvPr id="165" name="Google Shape;165;p30"/>
          <p:cNvSpPr txBox="1">
            <a:spLocks noGrp="1"/>
          </p:cNvSpPr>
          <p:nvPr>
            <p:ph type="title" idx="7"/>
          </p:nvPr>
        </p:nvSpPr>
        <p:spPr>
          <a:xfrm>
            <a:off x="720000" y="3143052"/>
            <a:ext cx="734700" cy="3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66" name="Google Shape;166;p30"/>
          <p:cNvSpPr txBox="1">
            <a:spLocks noGrp="1"/>
          </p:cNvSpPr>
          <p:nvPr>
            <p:ph type="subTitle" idx="8"/>
          </p:nvPr>
        </p:nvSpPr>
        <p:spPr>
          <a:xfrm>
            <a:off x="1454699" y="3143047"/>
            <a:ext cx="3748671" cy="3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System Design / Framework</a:t>
            </a:r>
            <a:endParaRPr dirty="0"/>
          </a:p>
        </p:txBody>
      </p:sp>
      <p:sp>
        <p:nvSpPr>
          <p:cNvPr id="167" name="Google Shape;167;p30"/>
          <p:cNvSpPr txBox="1">
            <a:spLocks noGrp="1"/>
          </p:cNvSpPr>
          <p:nvPr>
            <p:ph type="title" idx="9"/>
          </p:nvPr>
        </p:nvSpPr>
        <p:spPr>
          <a:xfrm>
            <a:off x="720000" y="3701177"/>
            <a:ext cx="734700" cy="3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68" name="Google Shape;168;p30"/>
          <p:cNvSpPr txBox="1">
            <a:spLocks noGrp="1"/>
          </p:cNvSpPr>
          <p:nvPr>
            <p:ph type="subTitle" idx="13"/>
          </p:nvPr>
        </p:nvSpPr>
        <p:spPr>
          <a:xfrm>
            <a:off x="1454700" y="3701172"/>
            <a:ext cx="5517600" cy="3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Expected Outcomes &amp; Timeline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>
            <a:spLocks noGrp="1"/>
          </p:cNvSpPr>
          <p:nvPr>
            <p:ph type="title"/>
          </p:nvPr>
        </p:nvSpPr>
        <p:spPr>
          <a:xfrm>
            <a:off x="3360875" y="2232350"/>
            <a:ext cx="5783100" cy="1912500"/>
          </a:xfrm>
          <a:prstGeom prst="rect">
            <a:avLst/>
          </a:prstGeom>
        </p:spPr>
        <p:txBody>
          <a:bodyPr spcFirstLastPara="1" wrap="square" lIns="91425" tIns="91425" rIns="731500" bIns="91425" anchor="ctr" anchorCtr="0">
            <a:noAutofit/>
          </a:bodyPr>
          <a:lstStyle/>
          <a:p>
            <a:pPr lvl="0"/>
            <a:r>
              <a:rPr lang="en-US" sz="4400" dirty="0"/>
              <a:t>INTRODUCTION</a:t>
            </a:r>
          </a:p>
        </p:txBody>
      </p:sp>
      <p:sp>
        <p:nvSpPr>
          <p:cNvPr id="183" name="Google Shape;183;p32"/>
          <p:cNvSpPr txBox="1">
            <a:spLocks noGrp="1"/>
          </p:cNvSpPr>
          <p:nvPr>
            <p:ph type="title" idx="2"/>
          </p:nvPr>
        </p:nvSpPr>
        <p:spPr>
          <a:xfrm>
            <a:off x="3360875" y="1052400"/>
            <a:ext cx="1642200" cy="97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>
            <a:spLocks noGrp="1"/>
          </p:cNvSpPr>
          <p:nvPr>
            <p:ph type="subTitle" idx="1"/>
          </p:nvPr>
        </p:nvSpPr>
        <p:spPr>
          <a:xfrm>
            <a:off x="370114" y="152400"/>
            <a:ext cx="8773885" cy="48659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r>
              <a:rPr lang="en-US" sz="2000" b="1" dirty="0"/>
              <a:t>TITLE: Coconut Leaf Disease Detection and Plantation Health             	  	Monitoring System</a:t>
            </a:r>
          </a:p>
          <a:p>
            <a:pPr marL="152400" indent="0">
              <a:buNone/>
            </a:pPr>
            <a:endParaRPr lang="en-US" sz="2000" b="1" dirty="0"/>
          </a:p>
          <a:p>
            <a:pPr marL="152400" indent="0">
              <a:buNone/>
            </a:pPr>
            <a:r>
              <a:rPr lang="en-US" b="1" dirty="0"/>
              <a:t>Background of the Problem</a:t>
            </a:r>
          </a:p>
          <a:p>
            <a:pPr marL="3238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Coconut leaf diseases reduce crop quality and plantation productivity. </a:t>
            </a:r>
          </a:p>
          <a:p>
            <a:pPr marL="3238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Manual disease detection is slow and depends on human expertise. </a:t>
            </a:r>
          </a:p>
          <a:p>
            <a:pPr marL="3238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Delayed identification may increase plantation and financial losses.</a:t>
            </a:r>
          </a:p>
          <a:p>
            <a:pPr marL="152400" indent="0">
              <a:lnSpc>
                <a:spcPct val="150000"/>
              </a:lnSpc>
              <a:buNone/>
            </a:pPr>
            <a:endParaRPr lang="en-US" sz="1100" dirty="0"/>
          </a:p>
          <a:p>
            <a:pPr marL="152400" indent="0">
              <a:buNone/>
            </a:pPr>
            <a:r>
              <a:rPr lang="en-US" b="1" dirty="0"/>
              <a:t>Importance of the Project</a:t>
            </a:r>
          </a:p>
          <a:p>
            <a:pPr marL="3238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Supports early disease detection. </a:t>
            </a:r>
          </a:p>
          <a:p>
            <a:pPr marL="3238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Reduces plantation losses. </a:t>
            </a:r>
          </a:p>
          <a:p>
            <a:pPr marL="3238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Uses AI and Deep Learning for smart agriculture. </a:t>
            </a:r>
          </a:p>
          <a:p>
            <a:pPr marL="3238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Provides a user-friendly web-based monitoring system. </a:t>
            </a:r>
          </a:p>
          <a:p>
            <a:pPr marL="152400" indent="0">
              <a:lnSpc>
                <a:spcPct val="150000"/>
              </a:lnSpc>
              <a:buNone/>
            </a:pPr>
            <a:endParaRPr lang="en-US" sz="1100" dirty="0"/>
          </a:p>
          <a:p>
            <a:pPr marL="152400" indent="0">
              <a:buNone/>
            </a:pPr>
            <a:r>
              <a:rPr lang="en-US" b="1" dirty="0"/>
              <a:t>AI Model</a:t>
            </a:r>
          </a:p>
          <a:p>
            <a:pPr marL="3238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CNN with Transfer Learning</a:t>
            </a:r>
          </a:p>
          <a:p>
            <a:pPr marL="3238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MobileNetV2 Architecture</a:t>
            </a:r>
          </a:p>
          <a:p>
            <a:pPr marL="152400" indent="0">
              <a:lnSpc>
                <a:spcPct val="150000"/>
              </a:lnSpc>
              <a:buNone/>
            </a:pP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63BF14-98A5-0779-1C61-329776B17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257" y="805541"/>
            <a:ext cx="3897911" cy="39787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71FF340C-716D-D974-1F15-0125FF790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>
            <a:extLst>
              <a:ext uri="{FF2B5EF4-FFF2-40B4-BE49-F238E27FC236}">
                <a16:creationId xmlns:a16="http://schemas.microsoft.com/office/drawing/2014/main" id="{4CA42414-7556-0A12-1AAE-11AD2ADB83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60875" y="2232350"/>
            <a:ext cx="5783100" cy="1912500"/>
          </a:xfrm>
          <a:prstGeom prst="rect">
            <a:avLst/>
          </a:prstGeom>
        </p:spPr>
        <p:txBody>
          <a:bodyPr spcFirstLastPara="1" wrap="square" lIns="91425" tIns="91425" rIns="731500" bIns="91425" anchor="ctr" anchorCtr="0">
            <a:noAutofit/>
          </a:bodyPr>
          <a:lstStyle/>
          <a:p>
            <a:pPr lvl="0"/>
            <a:r>
              <a:rPr lang="en-US" dirty="0"/>
              <a:t>Problem Statement &amp; Objectives</a:t>
            </a:r>
            <a:endParaRPr dirty="0"/>
          </a:p>
        </p:txBody>
      </p:sp>
      <p:sp>
        <p:nvSpPr>
          <p:cNvPr id="183" name="Google Shape;183;p32">
            <a:extLst>
              <a:ext uri="{FF2B5EF4-FFF2-40B4-BE49-F238E27FC236}">
                <a16:creationId xmlns:a16="http://schemas.microsoft.com/office/drawing/2014/main" id="{2C24001D-B9E7-B787-9DD8-B0BAD0794B5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360875" y="1052400"/>
            <a:ext cx="1642200" cy="97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29795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DC03DB05-04DB-292D-28A0-57732A711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>
            <a:extLst>
              <a:ext uri="{FF2B5EF4-FFF2-40B4-BE49-F238E27FC236}">
                <a16:creationId xmlns:a16="http://schemas.microsoft.com/office/drawing/2014/main" id="{0C7765D8-F95E-8096-6BDA-7CD41A85717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119743" y="277587"/>
            <a:ext cx="4201887" cy="48659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endParaRPr lang="en-US" sz="2000" b="1" dirty="0"/>
          </a:p>
          <a:p>
            <a:pPr marL="152400" indent="0">
              <a:buNone/>
            </a:pPr>
            <a:r>
              <a:rPr lang="en-US" b="1" dirty="0"/>
              <a:t>Problem Statement</a:t>
            </a:r>
            <a:endParaRPr lang="en-US" dirty="0"/>
          </a:p>
          <a:p>
            <a:pPr marL="3238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Existing disease detection methods are manual and time-consuming.  </a:t>
            </a:r>
          </a:p>
          <a:p>
            <a:pPr marL="3238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Farmers may not have quick access to agricultural experts. </a:t>
            </a:r>
          </a:p>
          <a:p>
            <a:pPr marL="3238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Traditional systems lack automated monitoring and real-time analysis. </a:t>
            </a:r>
          </a:p>
          <a:p>
            <a:pPr marL="152400" indent="0">
              <a:lnSpc>
                <a:spcPct val="150000"/>
              </a:lnSpc>
              <a:buNone/>
            </a:pPr>
            <a:endParaRPr lang="en-US" sz="1100" dirty="0"/>
          </a:p>
          <a:p>
            <a:pPr marL="152400" indent="0">
              <a:buNone/>
            </a:pPr>
            <a:r>
              <a:rPr lang="en-US" b="1" dirty="0"/>
              <a:t>Main Objective</a:t>
            </a:r>
            <a:r>
              <a:rPr lang="en-US" sz="1100" dirty="0"/>
              <a:t> </a:t>
            </a:r>
          </a:p>
          <a:p>
            <a:pPr marL="3238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Develop an AI-powered web-based system for coconut leaf disease detection and plantation monitoring.</a:t>
            </a:r>
          </a:p>
          <a:p>
            <a:pPr marL="152400" indent="0">
              <a:lnSpc>
                <a:spcPct val="150000"/>
              </a:lnSpc>
              <a:buNone/>
            </a:pPr>
            <a:endParaRPr lang="en-US" sz="1100" dirty="0"/>
          </a:p>
          <a:p>
            <a:pPr marL="152400" indent="0">
              <a:buNone/>
            </a:pPr>
            <a:r>
              <a:rPr lang="en-US" b="1" dirty="0"/>
              <a:t>Specific Objectives</a:t>
            </a:r>
            <a:endParaRPr lang="en-US" sz="1100" dirty="0"/>
          </a:p>
          <a:p>
            <a:pPr marL="3238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Detect coconut leaf diseases using CNN models. </a:t>
            </a:r>
          </a:p>
          <a:p>
            <a:pPr marL="3238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Estimate disease severity levels. </a:t>
            </a:r>
          </a:p>
          <a:p>
            <a:pPr marL="3238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Provide treatment recommendations. </a:t>
            </a:r>
          </a:p>
          <a:p>
            <a:pPr marL="3238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Develop a dashboard for plantation monitoring.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F88216F-602E-29FE-2165-BDB38F63D9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26" t="15537" r="6403" b="25423"/>
          <a:stretch>
            <a:fillRect/>
          </a:stretch>
        </p:blipFill>
        <p:spPr>
          <a:xfrm>
            <a:off x="3918858" y="296635"/>
            <a:ext cx="5061856" cy="2275115"/>
          </a:xfrm>
          <a:prstGeom prst="rect">
            <a:avLst/>
          </a:prstGeom>
        </p:spPr>
      </p:pic>
      <p:pic>
        <p:nvPicPr>
          <p:cNvPr id="11" name="Picture 10" descr="Ai Vs Human Comparison Vector Symbol Stock Vector (Royalty Free) 2598701823  | Shutterstock">
            <a:extLst>
              <a:ext uri="{FF2B5EF4-FFF2-40B4-BE49-F238E27FC236}">
                <a16:creationId xmlns:a16="http://schemas.microsoft.com/office/drawing/2014/main" id="{086F2F89-DA4B-E0A5-6DF2-D90FC2EBB9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959"/>
          <a:stretch>
            <a:fillRect/>
          </a:stretch>
        </p:blipFill>
        <p:spPr>
          <a:xfrm>
            <a:off x="4678135" y="2571750"/>
            <a:ext cx="2476500" cy="2454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252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3"/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grpSp>
        <p:nvGrpSpPr>
          <p:cNvPr id="195" name="Google Shape;195;p33"/>
          <p:cNvGrpSpPr/>
          <p:nvPr/>
        </p:nvGrpSpPr>
        <p:grpSpPr>
          <a:xfrm>
            <a:off x="909982" y="1569562"/>
            <a:ext cx="286571" cy="286540"/>
            <a:chOff x="-65145700" y="3727425"/>
            <a:chExt cx="317425" cy="317425"/>
          </a:xfrm>
        </p:grpSpPr>
        <p:sp>
          <p:nvSpPr>
            <p:cNvPr id="196" name="Google Shape;196;p33"/>
            <p:cNvSpPr/>
            <p:nvPr/>
          </p:nvSpPr>
          <p:spPr>
            <a:xfrm>
              <a:off x="-65145700" y="3769150"/>
              <a:ext cx="275675" cy="275700"/>
            </a:xfrm>
            <a:custGeom>
              <a:avLst/>
              <a:gdLst/>
              <a:ahLst/>
              <a:cxnLst/>
              <a:rect l="l" t="t" r="r" b="b"/>
              <a:pathLst>
                <a:path w="11027" h="11028" extrusionOk="0">
                  <a:moveTo>
                    <a:pt x="5514" y="1"/>
                  </a:moveTo>
                  <a:cubicBezTo>
                    <a:pt x="2489" y="1"/>
                    <a:pt x="0" y="2458"/>
                    <a:pt x="0" y="5514"/>
                  </a:cubicBezTo>
                  <a:cubicBezTo>
                    <a:pt x="0" y="8539"/>
                    <a:pt x="2489" y="11027"/>
                    <a:pt x="5514" y="11027"/>
                  </a:cubicBezTo>
                  <a:cubicBezTo>
                    <a:pt x="8538" y="11027"/>
                    <a:pt x="11027" y="8539"/>
                    <a:pt x="11027" y="5514"/>
                  </a:cubicBezTo>
                  <a:cubicBezTo>
                    <a:pt x="11027" y="5294"/>
                    <a:pt x="10869" y="5105"/>
                    <a:pt x="10649" y="5105"/>
                  </a:cubicBezTo>
                  <a:lnTo>
                    <a:pt x="5955" y="5105"/>
                  </a:lnTo>
                  <a:lnTo>
                    <a:pt x="5955" y="410"/>
                  </a:lnTo>
                  <a:cubicBezTo>
                    <a:pt x="5955" y="190"/>
                    <a:pt x="5766" y="1"/>
                    <a:pt x="55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33"/>
            <p:cNvSpPr/>
            <p:nvPr/>
          </p:nvSpPr>
          <p:spPr>
            <a:xfrm>
              <a:off x="-64977150" y="3727425"/>
              <a:ext cx="148875" cy="147300"/>
            </a:xfrm>
            <a:custGeom>
              <a:avLst/>
              <a:gdLst/>
              <a:ahLst/>
              <a:cxnLst/>
              <a:rect l="l" t="t" r="r" b="b"/>
              <a:pathLst>
                <a:path w="5955" h="5892" extrusionOk="0">
                  <a:moveTo>
                    <a:pt x="441" y="0"/>
                  </a:moveTo>
                  <a:cubicBezTo>
                    <a:pt x="189" y="0"/>
                    <a:pt x="0" y="158"/>
                    <a:pt x="0" y="378"/>
                  </a:cubicBezTo>
                  <a:lnTo>
                    <a:pt x="0" y="5513"/>
                  </a:lnTo>
                  <a:cubicBezTo>
                    <a:pt x="0" y="5702"/>
                    <a:pt x="189" y="5891"/>
                    <a:pt x="441" y="5891"/>
                  </a:cubicBezTo>
                  <a:lnTo>
                    <a:pt x="5514" y="5891"/>
                  </a:lnTo>
                  <a:cubicBezTo>
                    <a:pt x="5734" y="5891"/>
                    <a:pt x="5955" y="5702"/>
                    <a:pt x="5955" y="5513"/>
                  </a:cubicBezTo>
                  <a:cubicBezTo>
                    <a:pt x="5955" y="2489"/>
                    <a:pt x="3466" y="0"/>
                    <a:pt x="4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" name="Rectangle 3">
            <a:extLst>
              <a:ext uri="{FF2B5EF4-FFF2-40B4-BE49-F238E27FC236}">
                <a16:creationId xmlns:a16="http://schemas.microsoft.com/office/drawing/2014/main" id="{1E318DDB-E555-077E-3E3C-BCF6346DB116}"/>
              </a:ext>
            </a:extLst>
          </p:cNvPr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605290" y="1215467"/>
            <a:ext cx="793341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Food wastage is a global problem in restaurants, supermarkets, and fruit shops.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Fruit freshness depends on temperature, humidity, and light.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 expiry labels don’t show real-time freshness.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creates an AI system to predict fruit expiry.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collected using a DSLR camera and temperature &amp; humidity meters.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analyzes color, texture, and conditions to estimate freshness.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helps reduce waste and promote sustainability.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0B70D9A9-0E49-521C-9C33-7264BF543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>
            <a:extLst>
              <a:ext uri="{FF2B5EF4-FFF2-40B4-BE49-F238E27FC236}">
                <a16:creationId xmlns:a16="http://schemas.microsoft.com/office/drawing/2014/main" id="{0CE9E636-0857-4A85-DE7B-BF7A108611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35036" y="2232350"/>
            <a:ext cx="6408963" cy="1912500"/>
          </a:xfrm>
          <a:prstGeom prst="rect">
            <a:avLst/>
          </a:prstGeom>
        </p:spPr>
        <p:txBody>
          <a:bodyPr spcFirstLastPara="1" wrap="square" lIns="91425" tIns="91425" rIns="731500" bIns="91425" anchor="ctr" anchorCtr="0">
            <a:noAutofit/>
          </a:bodyPr>
          <a:lstStyle/>
          <a:p>
            <a:pPr marL="0" lvl="0" indent="0"/>
            <a:r>
              <a:rPr lang="en-US" dirty="0"/>
              <a:t>Current Situation and Problem Identification </a:t>
            </a:r>
          </a:p>
        </p:txBody>
      </p:sp>
      <p:sp>
        <p:nvSpPr>
          <p:cNvPr id="183" name="Google Shape;183;p32">
            <a:extLst>
              <a:ext uri="{FF2B5EF4-FFF2-40B4-BE49-F238E27FC236}">
                <a16:creationId xmlns:a16="http://schemas.microsoft.com/office/drawing/2014/main" id="{BFC30FBE-A208-AE82-D62D-47370E1B1B8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735036" y="1085057"/>
            <a:ext cx="1642200" cy="97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98305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FB9CADE3-65ED-7A5B-0207-03157EC09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3">
            <a:extLst>
              <a:ext uri="{FF2B5EF4-FFF2-40B4-BE49-F238E27FC236}">
                <a16:creationId xmlns:a16="http://schemas.microsoft.com/office/drawing/2014/main" id="{5A74CCEB-9ABA-7A70-7A31-91504D4BF8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Current Situation and Problem Identification </a:t>
            </a:r>
            <a:endParaRPr dirty="0"/>
          </a:p>
        </p:txBody>
      </p:sp>
      <p:sp>
        <p:nvSpPr>
          <p:cNvPr id="190" name="Google Shape;190;p33">
            <a:extLst>
              <a:ext uri="{FF2B5EF4-FFF2-40B4-BE49-F238E27FC236}">
                <a16:creationId xmlns:a16="http://schemas.microsoft.com/office/drawing/2014/main" id="{0F2E4FC8-A65F-DB21-5590-D433DC13D46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06376" y="2090845"/>
            <a:ext cx="3764046" cy="32812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Temperature, humidity, and light</a:t>
            </a:r>
            <a:r>
              <a:rPr lang="en-US" sz="1400" dirty="0"/>
              <a:t> strongly affect fruit quality.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High humidity</a:t>
            </a:r>
            <a:r>
              <a:rPr lang="en-US" sz="1400" dirty="0"/>
              <a:t> → fungal growth.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High temperature</a:t>
            </a:r>
            <a:r>
              <a:rPr lang="en-US" sz="1400" dirty="0"/>
              <a:t> → faster spoilage.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Excessive light</a:t>
            </a:r>
            <a:r>
              <a:rPr lang="en-US" sz="1400" dirty="0"/>
              <a:t> → oxidation and nutrient loss.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Vendors rarely </a:t>
            </a:r>
            <a:r>
              <a:rPr lang="en-US" sz="1400" dirty="0" err="1"/>
              <a:t>monitora</a:t>
            </a:r>
            <a:r>
              <a:rPr lang="en-US" sz="1400" dirty="0"/>
              <a:t> conditions due to </a:t>
            </a:r>
            <a:r>
              <a:rPr lang="en-US" sz="1400" b="1" dirty="0"/>
              <a:t>lack of tools or awareness</a:t>
            </a:r>
            <a:r>
              <a:rPr lang="en-US" sz="1400" dirty="0"/>
              <a:t>.</a:t>
            </a:r>
          </a:p>
        </p:txBody>
      </p:sp>
      <p:sp>
        <p:nvSpPr>
          <p:cNvPr id="191" name="Google Shape;191;p33">
            <a:extLst>
              <a:ext uri="{FF2B5EF4-FFF2-40B4-BE49-F238E27FC236}">
                <a16:creationId xmlns:a16="http://schemas.microsoft.com/office/drawing/2014/main" id="{F9673374-7C74-5DEF-ABB9-9ACED34CA8D2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2121793"/>
            <a:ext cx="3319328" cy="27522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238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Freshness checked manually by color, texture, and smell.</a:t>
            </a:r>
          </a:p>
          <a:p>
            <a:pPr marL="3238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Manual inspection is </a:t>
            </a:r>
            <a:r>
              <a:rPr lang="en-US" sz="1400" b="1" dirty="0"/>
              <a:t>subjective and unreliable</a:t>
            </a:r>
            <a:r>
              <a:rPr lang="en-US" sz="1400" dirty="0"/>
              <a:t>.</a:t>
            </a:r>
          </a:p>
          <a:p>
            <a:pPr marL="3238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Internal spoilage</a:t>
            </a:r>
            <a:r>
              <a:rPr lang="en-US" sz="1400" dirty="0"/>
              <a:t> often goes unnoticed (e.g., apples, mangoes).</a:t>
            </a:r>
          </a:p>
          <a:p>
            <a:pPr marL="3238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Leads to </a:t>
            </a:r>
            <a:r>
              <a:rPr lang="en-US" sz="1400" b="1" dirty="0"/>
              <a:t>economic loss</a:t>
            </a:r>
            <a:r>
              <a:rPr lang="en-US" sz="1400" dirty="0"/>
              <a:t> and </a:t>
            </a:r>
            <a:r>
              <a:rPr lang="en-US" sz="1400" b="1" dirty="0"/>
              <a:t>food safety issue</a:t>
            </a:r>
            <a:endParaRPr lang="en-US" sz="1400" dirty="0"/>
          </a:p>
        </p:txBody>
      </p:sp>
      <p:sp>
        <p:nvSpPr>
          <p:cNvPr id="192" name="Google Shape;192;p33">
            <a:extLst>
              <a:ext uri="{FF2B5EF4-FFF2-40B4-BE49-F238E27FC236}">
                <a16:creationId xmlns:a16="http://schemas.microsoft.com/office/drawing/2014/main" id="{F2AE9318-2989-B25C-3219-0D8C69FEEECB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469275" y="1607227"/>
            <a:ext cx="2505600" cy="48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/>
              <a:t>Current Industry Practices</a:t>
            </a:r>
          </a:p>
        </p:txBody>
      </p:sp>
      <p:sp>
        <p:nvSpPr>
          <p:cNvPr id="193" name="Google Shape;193;p33">
            <a:extLst>
              <a:ext uri="{FF2B5EF4-FFF2-40B4-BE49-F238E27FC236}">
                <a16:creationId xmlns:a16="http://schemas.microsoft.com/office/drawing/2014/main" id="{58B95D52-F02E-4B06-E2F3-D48BD6C3A5AF}"/>
              </a:ext>
            </a:extLst>
          </p:cNvPr>
          <p:cNvSpPr/>
          <p:nvPr/>
        </p:nvSpPr>
        <p:spPr>
          <a:xfrm>
            <a:off x="952825" y="1517545"/>
            <a:ext cx="527700" cy="52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94" name="Google Shape;194;p33">
            <a:extLst>
              <a:ext uri="{FF2B5EF4-FFF2-40B4-BE49-F238E27FC236}">
                <a16:creationId xmlns:a16="http://schemas.microsoft.com/office/drawing/2014/main" id="{C7C9A9BC-7CD4-1877-A535-CA9137B4491C}"/>
              </a:ext>
            </a:extLst>
          </p:cNvPr>
          <p:cNvSpPr/>
          <p:nvPr/>
        </p:nvSpPr>
        <p:spPr>
          <a:xfrm>
            <a:off x="4732523" y="1441854"/>
            <a:ext cx="527700" cy="52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grpSp>
        <p:nvGrpSpPr>
          <p:cNvPr id="195" name="Google Shape;195;p33">
            <a:extLst>
              <a:ext uri="{FF2B5EF4-FFF2-40B4-BE49-F238E27FC236}">
                <a16:creationId xmlns:a16="http://schemas.microsoft.com/office/drawing/2014/main" id="{2E11874C-D276-C08C-D73A-AE24C44645D1}"/>
              </a:ext>
            </a:extLst>
          </p:cNvPr>
          <p:cNvGrpSpPr/>
          <p:nvPr/>
        </p:nvGrpSpPr>
        <p:grpSpPr>
          <a:xfrm>
            <a:off x="1073380" y="1638125"/>
            <a:ext cx="286571" cy="286540"/>
            <a:chOff x="-65145700" y="3727425"/>
            <a:chExt cx="317425" cy="317425"/>
          </a:xfrm>
        </p:grpSpPr>
        <p:sp>
          <p:nvSpPr>
            <p:cNvPr id="196" name="Google Shape;196;p33">
              <a:extLst>
                <a:ext uri="{FF2B5EF4-FFF2-40B4-BE49-F238E27FC236}">
                  <a16:creationId xmlns:a16="http://schemas.microsoft.com/office/drawing/2014/main" id="{5C7DB2E7-BEA7-DC20-0CDB-5C9D859B36FD}"/>
                </a:ext>
              </a:extLst>
            </p:cNvPr>
            <p:cNvSpPr/>
            <p:nvPr/>
          </p:nvSpPr>
          <p:spPr>
            <a:xfrm>
              <a:off x="-65145700" y="3769150"/>
              <a:ext cx="275675" cy="275700"/>
            </a:xfrm>
            <a:custGeom>
              <a:avLst/>
              <a:gdLst/>
              <a:ahLst/>
              <a:cxnLst/>
              <a:rect l="l" t="t" r="r" b="b"/>
              <a:pathLst>
                <a:path w="11027" h="11028" extrusionOk="0">
                  <a:moveTo>
                    <a:pt x="5514" y="1"/>
                  </a:moveTo>
                  <a:cubicBezTo>
                    <a:pt x="2489" y="1"/>
                    <a:pt x="0" y="2458"/>
                    <a:pt x="0" y="5514"/>
                  </a:cubicBezTo>
                  <a:cubicBezTo>
                    <a:pt x="0" y="8539"/>
                    <a:pt x="2489" y="11027"/>
                    <a:pt x="5514" y="11027"/>
                  </a:cubicBezTo>
                  <a:cubicBezTo>
                    <a:pt x="8538" y="11027"/>
                    <a:pt x="11027" y="8539"/>
                    <a:pt x="11027" y="5514"/>
                  </a:cubicBezTo>
                  <a:cubicBezTo>
                    <a:pt x="11027" y="5294"/>
                    <a:pt x="10869" y="5105"/>
                    <a:pt x="10649" y="5105"/>
                  </a:cubicBezTo>
                  <a:lnTo>
                    <a:pt x="5955" y="5105"/>
                  </a:lnTo>
                  <a:lnTo>
                    <a:pt x="5955" y="410"/>
                  </a:lnTo>
                  <a:cubicBezTo>
                    <a:pt x="5955" y="190"/>
                    <a:pt x="5766" y="1"/>
                    <a:pt x="55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33">
              <a:extLst>
                <a:ext uri="{FF2B5EF4-FFF2-40B4-BE49-F238E27FC236}">
                  <a16:creationId xmlns:a16="http://schemas.microsoft.com/office/drawing/2014/main" id="{D8F23969-CFBE-364B-E6E8-820D98E0ED40}"/>
                </a:ext>
              </a:extLst>
            </p:cNvPr>
            <p:cNvSpPr/>
            <p:nvPr/>
          </p:nvSpPr>
          <p:spPr>
            <a:xfrm>
              <a:off x="-64977150" y="3727425"/>
              <a:ext cx="148875" cy="147300"/>
            </a:xfrm>
            <a:custGeom>
              <a:avLst/>
              <a:gdLst/>
              <a:ahLst/>
              <a:cxnLst/>
              <a:rect l="l" t="t" r="r" b="b"/>
              <a:pathLst>
                <a:path w="5955" h="5892" extrusionOk="0">
                  <a:moveTo>
                    <a:pt x="441" y="0"/>
                  </a:moveTo>
                  <a:cubicBezTo>
                    <a:pt x="189" y="0"/>
                    <a:pt x="0" y="158"/>
                    <a:pt x="0" y="378"/>
                  </a:cubicBezTo>
                  <a:lnTo>
                    <a:pt x="0" y="5513"/>
                  </a:lnTo>
                  <a:cubicBezTo>
                    <a:pt x="0" y="5702"/>
                    <a:pt x="189" y="5891"/>
                    <a:pt x="441" y="5891"/>
                  </a:cubicBezTo>
                  <a:lnTo>
                    <a:pt x="5514" y="5891"/>
                  </a:lnTo>
                  <a:cubicBezTo>
                    <a:pt x="5734" y="5891"/>
                    <a:pt x="5955" y="5702"/>
                    <a:pt x="5955" y="5513"/>
                  </a:cubicBezTo>
                  <a:cubicBezTo>
                    <a:pt x="5955" y="2489"/>
                    <a:pt x="3466" y="0"/>
                    <a:pt x="4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8" name="Google Shape;198;p33">
            <a:extLst>
              <a:ext uri="{FF2B5EF4-FFF2-40B4-BE49-F238E27FC236}">
                <a16:creationId xmlns:a16="http://schemas.microsoft.com/office/drawing/2014/main" id="{CE886CEA-6F3D-2941-CE8E-D548FA7CD0F3}"/>
              </a:ext>
            </a:extLst>
          </p:cNvPr>
          <p:cNvSpPr/>
          <p:nvPr/>
        </p:nvSpPr>
        <p:spPr>
          <a:xfrm>
            <a:off x="4853094" y="1563145"/>
            <a:ext cx="286571" cy="285118"/>
          </a:xfrm>
          <a:custGeom>
            <a:avLst/>
            <a:gdLst/>
            <a:ahLst/>
            <a:cxnLst/>
            <a:rect l="l" t="t" r="r" b="b"/>
            <a:pathLst>
              <a:path w="12697" h="12634" extrusionOk="0">
                <a:moveTo>
                  <a:pt x="11437" y="819"/>
                </a:moveTo>
                <a:cubicBezTo>
                  <a:pt x="11657" y="819"/>
                  <a:pt x="11815" y="1040"/>
                  <a:pt x="11815" y="1260"/>
                </a:cubicBezTo>
                <a:cubicBezTo>
                  <a:pt x="11815" y="1512"/>
                  <a:pt x="11657" y="1670"/>
                  <a:pt x="11437" y="1670"/>
                </a:cubicBezTo>
                <a:lnTo>
                  <a:pt x="1229" y="1670"/>
                </a:lnTo>
                <a:cubicBezTo>
                  <a:pt x="1009" y="1670"/>
                  <a:pt x="788" y="1449"/>
                  <a:pt x="788" y="1260"/>
                </a:cubicBezTo>
                <a:cubicBezTo>
                  <a:pt x="788" y="1071"/>
                  <a:pt x="1009" y="819"/>
                  <a:pt x="1229" y="819"/>
                </a:cubicBezTo>
                <a:close/>
                <a:moveTo>
                  <a:pt x="8790" y="3277"/>
                </a:moveTo>
                <a:cubicBezTo>
                  <a:pt x="9042" y="3277"/>
                  <a:pt x="9200" y="3466"/>
                  <a:pt x="9200" y="3655"/>
                </a:cubicBezTo>
                <a:lnTo>
                  <a:pt x="9200" y="5356"/>
                </a:lnTo>
                <a:lnTo>
                  <a:pt x="9232" y="5356"/>
                </a:lnTo>
                <a:cubicBezTo>
                  <a:pt x="9232" y="5608"/>
                  <a:pt x="9042" y="5765"/>
                  <a:pt x="8822" y="5765"/>
                </a:cubicBezTo>
                <a:cubicBezTo>
                  <a:pt x="8633" y="5765"/>
                  <a:pt x="8412" y="5545"/>
                  <a:pt x="8412" y="5356"/>
                </a:cubicBezTo>
                <a:lnTo>
                  <a:pt x="8412" y="4694"/>
                </a:lnTo>
                <a:lnTo>
                  <a:pt x="6617" y="6459"/>
                </a:lnTo>
                <a:cubicBezTo>
                  <a:pt x="6538" y="6537"/>
                  <a:pt x="6435" y="6577"/>
                  <a:pt x="6333" y="6577"/>
                </a:cubicBezTo>
                <a:cubicBezTo>
                  <a:pt x="6231" y="6577"/>
                  <a:pt x="6128" y="6537"/>
                  <a:pt x="6050" y="6459"/>
                </a:cubicBezTo>
                <a:lnTo>
                  <a:pt x="5482" y="5923"/>
                </a:lnTo>
                <a:lnTo>
                  <a:pt x="4096" y="7278"/>
                </a:lnTo>
                <a:cubicBezTo>
                  <a:pt x="4033" y="7356"/>
                  <a:pt x="3931" y="7396"/>
                  <a:pt x="3824" y="7396"/>
                </a:cubicBezTo>
                <a:cubicBezTo>
                  <a:pt x="3718" y="7396"/>
                  <a:pt x="3608" y="7356"/>
                  <a:pt x="3529" y="7278"/>
                </a:cubicBezTo>
                <a:cubicBezTo>
                  <a:pt x="3372" y="7120"/>
                  <a:pt x="3372" y="6868"/>
                  <a:pt x="3529" y="6711"/>
                </a:cubicBezTo>
                <a:lnTo>
                  <a:pt x="5167" y="5041"/>
                </a:lnTo>
                <a:cubicBezTo>
                  <a:pt x="5246" y="4962"/>
                  <a:pt x="5356" y="4923"/>
                  <a:pt x="5467" y="4923"/>
                </a:cubicBezTo>
                <a:cubicBezTo>
                  <a:pt x="5577" y="4923"/>
                  <a:pt x="5687" y="4962"/>
                  <a:pt x="5766" y="5041"/>
                </a:cubicBezTo>
                <a:lnTo>
                  <a:pt x="6302" y="5608"/>
                </a:lnTo>
                <a:lnTo>
                  <a:pt x="7814" y="4096"/>
                </a:lnTo>
                <a:lnTo>
                  <a:pt x="7152" y="4096"/>
                </a:lnTo>
                <a:cubicBezTo>
                  <a:pt x="6900" y="4096"/>
                  <a:pt x="6743" y="3907"/>
                  <a:pt x="6743" y="3655"/>
                </a:cubicBezTo>
                <a:cubicBezTo>
                  <a:pt x="6743" y="3434"/>
                  <a:pt x="6932" y="3277"/>
                  <a:pt x="7152" y="3277"/>
                </a:cubicBezTo>
                <a:close/>
                <a:moveTo>
                  <a:pt x="6302" y="11058"/>
                </a:moveTo>
                <a:cubicBezTo>
                  <a:pt x="6554" y="11058"/>
                  <a:pt x="6743" y="11279"/>
                  <a:pt x="6743" y="11468"/>
                </a:cubicBezTo>
                <a:cubicBezTo>
                  <a:pt x="6743" y="11657"/>
                  <a:pt x="6554" y="11846"/>
                  <a:pt x="6302" y="11846"/>
                </a:cubicBezTo>
                <a:cubicBezTo>
                  <a:pt x="6081" y="11846"/>
                  <a:pt x="5924" y="11657"/>
                  <a:pt x="5924" y="11468"/>
                </a:cubicBezTo>
                <a:cubicBezTo>
                  <a:pt x="5924" y="11279"/>
                  <a:pt x="6113" y="11058"/>
                  <a:pt x="6302" y="11058"/>
                </a:cubicBezTo>
                <a:close/>
                <a:moveTo>
                  <a:pt x="1229" y="0"/>
                </a:moveTo>
                <a:cubicBezTo>
                  <a:pt x="568" y="0"/>
                  <a:pt x="1" y="536"/>
                  <a:pt x="1" y="1229"/>
                </a:cubicBezTo>
                <a:cubicBezTo>
                  <a:pt x="1" y="1764"/>
                  <a:pt x="379" y="2205"/>
                  <a:pt x="851" y="2394"/>
                </a:cubicBezTo>
                <a:lnTo>
                  <a:pt x="851" y="8254"/>
                </a:lnTo>
                <a:lnTo>
                  <a:pt x="442" y="8254"/>
                </a:lnTo>
                <a:cubicBezTo>
                  <a:pt x="221" y="8254"/>
                  <a:pt x="64" y="8475"/>
                  <a:pt x="64" y="8664"/>
                </a:cubicBezTo>
                <a:cubicBezTo>
                  <a:pt x="64" y="8916"/>
                  <a:pt x="253" y="9042"/>
                  <a:pt x="442" y="9042"/>
                </a:cubicBezTo>
                <a:lnTo>
                  <a:pt x="5955" y="9042"/>
                </a:lnTo>
                <a:lnTo>
                  <a:pt x="5955" y="10239"/>
                </a:lnTo>
                <a:cubicBezTo>
                  <a:pt x="5482" y="10397"/>
                  <a:pt x="5136" y="10869"/>
                  <a:pt x="5136" y="11405"/>
                </a:cubicBezTo>
                <a:cubicBezTo>
                  <a:pt x="5136" y="12098"/>
                  <a:pt x="5671" y="12633"/>
                  <a:pt x="6365" y="12633"/>
                </a:cubicBezTo>
                <a:cubicBezTo>
                  <a:pt x="7026" y="12633"/>
                  <a:pt x="7625" y="12098"/>
                  <a:pt x="7625" y="11405"/>
                </a:cubicBezTo>
                <a:cubicBezTo>
                  <a:pt x="7625" y="10869"/>
                  <a:pt x="7247" y="10428"/>
                  <a:pt x="6774" y="10239"/>
                </a:cubicBezTo>
                <a:lnTo>
                  <a:pt x="6774" y="9042"/>
                </a:lnTo>
                <a:lnTo>
                  <a:pt x="12288" y="9042"/>
                </a:lnTo>
                <a:cubicBezTo>
                  <a:pt x="12540" y="9042"/>
                  <a:pt x="12697" y="8853"/>
                  <a:pt x="12697" y="8664"/>
                </a:cubicBezTo>
                <a:cubicBezTo>
                  <a:pt x="12666" y="8443"/>
                  <a:pt x="12508" y="8254"/>
                  <a:pt x="12256" y="8254"/>
                </a:cubicBezTo>
                <a:lnTo>
                  <a:pt x="11815" y="8254"/>
                </a:lnTo>
                <a:lnTo>
                  <a:pt x="11815" y="2394"/>
                </a:lnTo>
                <a:cubicBezTo>
                  <a:pt x="12288" y="2237"/>
                  <a:pt x="12666" y="1764"/>
                  <a:pt x="12666" y="1229"/>
                </a:cubicBezTo>
                <a:cubicBezTo>
                  <a:pt x="12666" y="567"/>
                  <a:pt x="12098" y="0"/>
                  <a:pt x="1143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92;p33">
            <a:extLst>
              <a:ext uri="{FF2B5EF4-FFF2-40B4-BE49-F238E27FC236}">
                <a16:creationId xmlns:a16="http://schemas.microsoft.com/office/drawing/2014/main" id="{1AD8B791-4EFA-B94E-1E2C-0649F5FC7B81}"/>
              </a:ext>
            </a:extLst>
          </p:cNvPr>
          <p:cNvSpPr txBox="1">
            <a:spLocks/>
          </p:cNvSpPr>
          <p:nvPr/>
        </p:nvSpPr>
        <p:spPr>
          <a:xfrm>
            <a:off x="5223289" y="1563145"/>
            <a:ext cx="3200711" cy="4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dirty="0"/>
              <a:t>Environmental Factors Affecting Freshness</a:t>
            </a:r>
          </a:p>
        </p:txBody>
      </p:sp>
    </p:spTree>
    <p:extLst>
      <p:ext uri="{BB962C8B-B14F-4D97-AF65-F5344CB8AC3E}">
        <p14:creationId xmlns:p14="http://schemas.microsoft.com/office/powerpoint/2010/main" val="209463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5"/>
          <p:cNvSpPr txBox="1">
            <a:spLocks noGrp="1"/>
          </p:cNvSpPr>
          <p:nvPr>
            <p:ph type="title"/>
          </p:nvPr>
        </p:nvSpPr>
        <p:spPr>
          <a:xfrm>
            <a:off x="720000" y="398049"/>
            <a:ext cx="7704000" cy="8845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Existing Limitations</a:t>
            </a:r>
            <a:endParaRPr dirty="0"/>
          </a:p>
        </p:txBody>
      </p:sp>
      <p:sp>
        <p:nvSpPr>
          <p:cNvPr id="234" name="Google Shape;234;p35"/>
          <p:cNvSpPr txBox="1">
            <a:spLocks noGrp="1"/>
          </p:cNvSpPr>
          <p:nvPr>
            <p:ph type="subTitle" idx="1"/>
          </p:nvPr>
        </p:nvSpPr>
        <p:spPr>
          <a:xfrm>
            <a:off x="1800525" y="2200275"/>
            <a:ext cx="3109500" cy="23921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Image-only models don’t predict shelf life.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High-cost sensors not suitable for small vendors.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Lab-based systems lack real-time usability.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Poor data integration reduces accuracy.</a:t>
            </a:r>
            <a:endParaRPr sz="1400" dirty="0"/>
          </a:p>
        </p:txBody>
      </p:sp>
      <p:sp>
        <p:nvSpPr>
          <p:cNvPr id="235" name="Google Shape;235;p35"/>
          <p:cNvSpPr txBox="1">
            <a:spLocks noGrp="1"/>
          </p:cNvSpPr>
          <p:nvPr>
            <p:ph type="subTitle" idx="2"/>
          </p:nvPr>
        </p:nvSpPr>
        <p:spPr>
          <a:xfrm>
            <a:off x="5252471" y="2196193"/>
            <a:ext cx="3233507" cy="28166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Economic loss from early discarding or selling spoiled fruits.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Food safety risks from wrong freshness assessment.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No expiry tracking for inventory management.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Lack of affordable AI tools for daily use.</a:t>
            </a:r>
            <a:endParaRPr sz="1400" dirty="0"/>
          </a:p>
        </p:txBody>
      </p:sp>
      <p:sp>
        <p:nvSpPr>
          <p:cNvPr id="238" name="Google Shape;238;p35"/>
          <p:cNvSpPr txBox="1">
            <a:spLocks noGrp="1"/>
          </p:cNvSpPr>
          <p:nvPr>
            <p:ph type="subTitle" idx="5"/>
          </p:nvPr>
        </p:nvSpPr>
        <p:spPr>
          <a:xfrm>
            <a:off x="1800525" y="1743075"/>
            <a:ext cx="3109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Limitations of Existing Technologies</a:t>
            </a:r>
            <a:endParaRPr dirty="0"/>
          </a:p>
        </p:txBody>
      </p:sp>
      <p:sp>
        <p:nvSpPr>
          <p:cNvPr id="239" name="Google Shape;239;p35"/>
          <p:cNvSpPr txBox="1">
            <a:spLocks noGrp="1"/>
          </p:cNvSpPr>
          <p:nvPr>
            <p:ph type="subTitle" idx="7"/>
          </p:nvPr>
        </p:nvSpPr>
        <p:spPr>
          <a:xfrm>
            <a:off x="5252471" y="1587954"/>
            <a:ext cx="3109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Challenges for Businesses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>
          <a:extLst>
            <a:ext uri="{FF2B5EF4-FFF2-40B4-BE49-F238E27FC236}">
              <a16:creationId xmlns:a16="http://schemas.microsoft.com/office/drawing/2014/main" id="{34F4D7FF-9AE8-F25A-79E8-24899EE79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5">
            <a:extLst>
              <a:ext uri="{FF2B5EF4-FFF2-40B4-BE49-F238E27FC236}">
                <a16:creationId xmlns:a16="http://schemas.microsoft.com/office/drawing/2014/main" id="{FDA7917B-8C48-17A7-8AC2-98E2683351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98049"/>
            <a:ext cx="7704000" cy="8845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Problem Statement &amp; Proposed Direction</a:t>
            </a:r>
            <a:endParaRPr dirty="0"/>
          </a:p>
        </p:txBody>
      </p:sp>
      <p:sp>
        <p:nvSpPr>
          <p:cNvPr id="234" name="Google Shape;234;p35">
            <a:extLst>
              <a:ext uri="{FF2B5EF4-FFF2-40B4-BE49-F238E27FC236}">
                <a16:creationId xmlns:a16="http://schemas.microsoft.com/office/drawing/2014/main" id="{590952F4-B5B6-DC13-89B9-DFF492A1077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661733" y="2200275"/>
            <a:ext cx="3109500" cy="23921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No low-cost web system combining image and environment data.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Causes inaccurate freshness prediction, waste, and health risks.</a:t>
            </a:r>
            <a:endParaRPr sz="1400" dirty="0"/>
          </a:p>
        </p:txBody>
      </p:sp>
      <p:sp>
        <p:nvSpPr>
          <p:cNvPr id="235" name="Google Shape;235;p35">
            <a:extLst>
              <a:ext uri="{FF2B5EF4-FFF2-40B4-BE49-F238E27FC236}">
                <a16:creationId xmlns:a16="http://schemas.microsoft.com/office/drawing/2014/main" id="{D18B84FF-A6A5-2598-797A-BEBB963F8B6B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069546" y="2114550"/>
            <a:ext cx="4033633" cy="28166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Develop an AI Fruit Expiry Prediction System 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using:Fruit</a:t>
            </a:r>
            <a:r>
              <a:rPr lang="en-US" sz="1400" dirty="0"/>
              <a:t> images (DSLR) and temperature/humidity data (meters).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Web-based dashboard showing freshness level and remaining shelf life.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Ensures accuracy, affordability, and real-time use.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Helps reduce waste and improve food safety.</a:t>
            </a:r>
            <a:endParaRPr sz="1400" dirty="0"/>
          </a:p>
        </p:txBody>
      </p:sp>
      <p:sp>
        <p:nvSpPr>
          <p:cNvPr id="238" name="Google Shape;238;p35">
            <a:extLst>
              <a:ext uri="{FF2B5EF4-FFF2-40B4-BE49-F238E27FC236}">
                <a16:creationId xmlns:a16="http://schemas.microsoft.com/office/drawing/2014/main" id="{83E0F882-22F4-DE8D-AAA9-826C021EF4AD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1661733" y="1743075"/>
            <a:ext cx="3109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Problem Statement</a:t>
            </a:r>
            <a:endParaRPr dirty="0"/>
          </a:p>
        </p:txBody>
      </p:sp>
      <p:sp>
        <p:nvSpPr>
          <p:cNvPr id="239" name="Google Shape;239;p35">
            <a:extLst>
              <a:ext uri="{FF2B5EF4-FFF2-40B4-BE49-F238E27FC236}">
                <a16:creationId xmlns:a16="http://schemas.microsoft.com/office/drawing/2014/main" id="{78125FCB-C635-EB05-4843-330F1ECD4078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5069546" y="1700172"/>
            <a:ext cx="3109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Proposed Direction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07419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9FEEA4A8-5B2C-8514-2731-8F1D35946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>
            <a:extLst>
              <a:ext uri="{FF2B5EF4-FFF2-40B4-BE49-F238E27FC236}">
                <a16:creationId xmlns:a16="http://schemas.microsoft.com/office/drawing/2014/main" id="{4BC5B9DD-86CA-F2D8-289E-E591993138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35036" y="2232350"/>
            <a:ext cx="6408963" cy="1912500"/>
          </a:xfrm>
          <a:prstGeom prst="rect">
            <a:avLst/>
          </a:prstGeom>
        </p:spPr>
        <p:txBody>
          <a:bodyPr spcFirstLastPara="1" wrap="square" lIns="91425" tIns="91425" rIns="731500" bIns="91425" anchor="ctr" anchorCtr="0">
            <a:noAutofit/>
          </a:bodyPr>
          <a:lstStyle/>
          <a:p>
            <a:pPr marL="0" lvl="0" indent="0"/>
            <a:r>
              <a:rPr lang="en-US" dirty="0"/>
              <a:t>Literature Review </a:t>
            </a:r>
          </a:p>
        </p:txBody>
      </p:sp>
      <p:sp>
        <p:nvSpPr>
          <p:cNvPr id="183" name="Google Shape;183;p32">
            <a:extLst>
              <a:ext uri="{FF2B5EF4-FFF2-40B4-BE49-F238E27FC236}">
                <a16:creationId xmlns:a16="http://schemas.microsoft.com/office/drawing/2014/main" id="{7CE40B08-8025-ED9E-5653-16ACE5ADCBA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735036" y="1085057"/>
            <a:ext cx="1642200" cy="97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040976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6" name="Google Shape;426;p48"/>
          <p:cNvGrpSpPr/>
          <p:nvPr/>
        </p:nvGrpSpPr>
        <p:grpSpPr>
          <a:xfrm>
            <a:off x="4376750" y="8250"/>
            <a:ext cx="4767250" cy="6062525"/>
            <a:chOff x="4376750" y="8250"/>
            <a:chExt cx="4767250" cy="6062525"/>
          </a:xfrm>
        </p:grpSpPr>
        <p:sp>
          <p:nvSpPr>
            <p:cNvPr id="427" name="Google Shape;427;p48"/>
            <p:cNvSpPr/>
            <p:nvPr/>
          </p:nvSpPr>
          <p:spPr>
            <a:xfrm>
              <a:off x="4376750" y="3025100"/>
              <a:ext cx="4170900" cy="964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428" name="Google Shape;428;p48"/>
            <p:cNvSpPr/>
            <p:nvPr/>
          </p:nvSpPr>
          <p:spPr>
            <a:xfrm rot="5400000">
              <a:off x="6098250" y="2089500"/>
              <a:ext cx="5127000" cy="964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429" name="Google Shape;429;p48"/>
            <p:cNvSpPr/>
            <p:nvPr/>
          </p:nvSpPr>
          <p:spPr>
            <a:xfrm rot="5400000">
              <a:off x="4233350" y="3773075"/>
              <a:ext cx="3630900" cy="964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sp>
        <p:nvSpPr>
          <p:cNvPr id="430" name="Google Shape;430;p48"/>
          <p:cNvSpPr txBox="1">
            <a:spLocks noGrp="1"/>
          </p:cNvSpPr>
          <p:nvPr>
            <p:ph type="body" idx="4294967295"/>
          </p:nvPr>
        </p:nvSpPr>
        <p:spPr>
          <a:xfrm>
            <a:off x="720000" y="1215750"/>
            <a:ext cx="7459500" cy="36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dirty="0"/>
              <a:t>Deep learning (CNNs: </a:t>
            </a:r>
            <a:r>
              <a:rPr lang="en-US" sz="1600" dirty="0" err="1"/>
              <a:t>ResNet</a:t>
            </a:r>
            <a:r>
              <a:rPr lang="en-US" sz="1600" dirty="0"/>
              <a:t>, </a:t>
            </a:r>
            <a:r>
              <a:rPr lang="en-US" sz="1600" dirty="0" err="1"/>
              <a:t>DenseNet</a:t>
            </a:r>
            <a:r>
              <a:rPr lang="en-US" sz="1600" dirty="0"/>
              <a:t>, Inception-v3) used for fruit freshness.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Detect </a:t>
            </a:r>
            <a:r>
              <a:rPr lang="en-US" sz="1600" b="1" dirty="0"/>
              <a:t>color, texture, surface defects</a:t>
            </a:r>
            <a:r>
              <a:rPr lang="en-US" sz="1600" dirty="0"/>
              <a:t> with high accuracy.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Works well in controlled labs but struggles in real-world conditions.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Gap:</a:t>
            </a:r>
            <a:r>
              <a:rPr lang="en-US" sz="1600" dirty="0"/>
              <a:t> Only classify fruits as </a:t>
            </a:r>
            <a:r>
              <a:rPr lang="en-US" sz="1600" i="1" dirty="0"/>
              <a:t>fresh/rotten</a:t>
            </a:r>
            <a:r>
              <a:rPr lang="en-US" sz="1600" dirty="0"/>
              <a:t>, cannot predict </a:t>
            </a:r>
            <a:r>
              <a:rPr lang="en-US" sz="1600" b="1" dirty="0"/>
              <a:t>expiry days</a:t>
            </a:r>
            <a:r>
              <a:rPr lang="en-US" sz="1600" dirty="0"/>
              <a:t>.</a:t>
            </a:r>
          </a:p>
          <a:p>
            <a:pPr marL="152400" indent="0">
              <a:lnSpc>
                <a:spcPct val="150000"/>
              </a:lnSpc>
              <a:buNone/>
            </a:pPr>
            <a:r>
              <a:rPr lang="en-US" sz="1600" b="1" dirty="0"/>
              <a:t>References: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/>
              <a:t>Li et al., 2024; Kumar &amp; Gupta, 2023; MDPI, 2024; ScienceDirect, 2024</a:t>
            </a:r>
          </a:p>
        </p:txBody>
      </p:sp>
      <p:sp>
        <p:nvSpPr>
          <p:cNvPr id="431" name="Google Shape;431;p48"/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Image-Based Freshness Detection</a:t>
            </a:r>
            <a:endParaRPr dirty="0"/>
          </a:p>
        </p:txBody>
      </p:sp>
      <p:sp>
        <p:nvSpPr>
          <p:cNvPr id="434" name="Google Shape;434;p48"/>
          <p:cNvSpPr/>
          <p:nvPr/>
        </p:nvSpPr>
        <p:spPr>
          <a:xfrm>
            <a:off x="6825050" y="1781100"/>
            <a:ext cx="1087800" cy="7698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>
          <a:extLst>
            <a:ext uri="{FF2B5EF4-FFF2-40B4-BE49-F238E27FC236}">
              <a16:creationId xmlns:a16="http://schemas.microsoft.com/office/drawing/2014/main" id="{29D99E0F-2468-09EB-52B4-8A3A2911B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6" name="Google Shape;426;p48">
            <a:extLst>
              <a:ext uri="{FF2B5EF4-FFF2-40B4-BE49-F238E27FC236}">
                <a16:creationId xmlns:a16="http://schemas.microsoft.com/office/drawing/2014/main" id="{2155FA68-21EB-CD8F-2025-5BE328447E7F}"/>
              </a:ext>
            </a:extLst>
          </p:cNvPr>
          <p:cNvGrpSpPr/>
          <p:nvPr/>
        </p:nvGrpSpPr>
        <p:grpSpPr>
          <a:xfrm>
            <a:off x="4376750" y="8250"/>
            <a:ext cx="4767250" cy="6062525"/>
            <a:chOff x="4376750" y="8250"/>
            <a:chExt cx="4767250" cy="6062525"/>
          </a:xfrm>
        </p:grpSpPr>
        <p:sp>
          <p:nvSpPr>
            <p:cNvPr id="427" name="Google Shape;427;p48">
              <a:extLst>
                <a:ext uri="{FF2B5EF4-FFF2-40B4-BE49-F238E27FC236}">
                  <a16:creationId xmlns:a16="http://schemas.microsoft.com/office/drawing/2014/main" id="{9A80BD5C-6838-63F6-FEA0-E44A3113740E}"/>
                </a:ext>
              </a:extLst>
            </p:cNvPr>
            <p:cNvSpPr/>
            <p:nvPr/>
          </p:nvSpPr>
          <p:spPr>
            <a:xfrm>
              <a:off x="4376750" y="3025100"/>
              <a:ext cx="4170900" cy="964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428" name="Google Shape;428;p48">
              <a:extLst>
                <a:ext uri="{FF2B5EF4-FFF2-40B4-BE49-F238E27FC236}">
                  <a16:creationId xmlns:a16="http://schemas.microsoft.com/office/drawing/2014/main" id="{9B543B63-2FFA-69E7-A3E2-D2724A39AD68}"/>
                </a:ext>
              </a:extLst>
            </p:cNvPr>
            <p:cNvSpPr/>
            <p:nvPr/>
          </p:nvSpPr>
          <p:spPr>
            <a:xfrm rot="5400000">
              <a:off x="6098250" y="2089500"/>
              <a:ext cx="5127000" cy="964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429" name="Google Shape;429;p48">
              <a:extLst>
                <a:ext uri="{FF2B5EF4-FFF2-40B4-BE49-F238E27FC236}">
                  <a16:creationId xmlns:a16="http://schemas.microsoft.com/office/drawing/2014/main" id="{04BFD384-75BB-BB6D-D41F-1CBD7F73564C}"/>
                </a:ext>
              </a:extLst>
            </p:cNvPr>
            <p:cNvSpPr/>
            <p:nvPr/>
          </p:nvSpPr>
          <p:spPr>
            <a:xfrm rot="5400000">
              <a:off x="4233350" y="3773075"/>
              <a:ext cx="3630900" cy="964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sp>
        <p:nvSpPr>
          <p:cNvPr id="430" name="Google Shape;430;p48">
            <a:extLst>
              <a:ext uri="{FF2B5EF4-FFF2-40B4-BE49-F238E27FC236}">
                <a16:creationId xmlns:a16="http://schemas.microsoft.com/office/drawing/2014/main" id="{507DC0F2-B210-B4DB-E5D7-0FAF741F321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0" y="1215750"/>
            <a:ext cx="7459500" cy="36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400" dirty="0"/>
              <a:t>Use </a:t>
            </a:r>
            <a:r>
              <a:rPr lang="en-US" sz="1400" b="1" dirty="0"/>
              <a:t>temperature, humidity, CO₂, ethylene</a:t>
            </a:r>
            <a:r>
              <a:rPr lang="en-US" sz="1400" dirty="0"/>
              <a:t> to predict shelf life.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Accurate but designed for </a:t>
            </a:r>
            <a:r>
              <a:rPr lang="en-US" sz="1400" b="1" dirty="0"/>
              <a:t>industrial cold-chain systems</a:t>
            </a:r>
            <a:r>
              <a:rPr lang="en-US" sz="14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Require </a:t>
            </a:r>
            <a:r>
              <a:rPr lang="en-US" sz="1400" b="1" dirty="0"/>
              <a:t>expensive sensors</a:t>
            </a:r>
            <a:r>
              <a:rPr lang="en-US" sz="1400" dirty="0"/>
              <a:t>, not practical for small vendors.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Hybrid (Image + Environment) Models: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/>
              <a:t>Combine image + sensor data for higher accuracy.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Examples: Zhou et al., 2024 (hyperspectral + humidity); Patel et al., 2025 (RGB + thermal).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Gap:</a:t>
            </a:r>
            <a:r>
              <a:rPr lang="en-US" sz="1400" dirty="0"/>
              <a:t> Most rely on costly lab equipment; few use </a:t>
            </a:r>
            <a:r>
              <a:rPr lang="en-US" sz="1400" b="1" dirty="0"/>
              <a:t>low-cost RGB + basic sensors</a:t>
            </a:r>
            <a:r>
              <a:rPr lang="en-US" sz="1400" dirty="0"/>
              <a:t>.</a:t>
            </a:r>
          </a:p>
          <a:p>
            <a:pPr marL="152400" indent="0">
              <a:lnSpc>
                <a:spcPct val="150000"/>
              </a:lnSpc>
              <a:buNone/>
            </a:pPr>
            <a:r>
              <a:rPr lang="en-US" sz="1400" b="1" dirty="0"/>
              <a:t>References: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/>
              <a:t>Zhang et al., 2023; Rahman et al., 2024; Zhou et al., 2024; Patel et al., 2025; Food Informatics, 2024–2025</a:t>
            </a:r>
          </a:p>
        </p:txBody>
      </p:sp>
      <p:sp>
        <p:nvSpPr>
          <p:cNvPr id="431" name="Google Shape;431;p48">
            <a:extLst>
              <a:ext uri="{FF2B5EF4-FFF2-40B4-BE49-F238E27FC236}">
                <a16:creationId xmlns:a16="http://schemas.microsoft.com/office/drawing/2014/main" id="{284F8CA8-5400-01E8-0B52-3729F1122B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Environmental &amp; Hybrid Approaches</a:t>
            </a:r>
            <a:endParaRPr dirty="0"/>
          </a:p>
        </p:txBody>
      </p:sp>
      <p:sp>
        <p:nvSpPr>
          <p:cNvPr id="434" name="Google Shape;434;p48">
            <a:extLst>
              <a:ext uri="{FF2B5EF4-FFF2-40B4-BE49-F238E27FC236}">
                <a16:creationId xmlns:a16="http://schemas.microsoft.com/office/drawing/2014/main" id="{D2B1FEFB-F793-8ED5-3A96-2A468FA92994}"/>
              </a:ext>
            </a:extLst>
          </p:cNvPr>
          <p:cNvSpPr/>
          <p:nvPr/>
        </p:nvSpPr>
        <p:spPr>
          <a:xfrm>
            <a:off x="6825050" y="1781100"/>
            <a:ext cx="1087800" cy="7698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</p:spTree>
    <p:extLst>
      <p:ext uri="{BB962C8B-B14F-4D97-AF65-F5344CB8AC3E}">
        <p14:creationId xmlns:p14="http://schemas.microsoft.com/office/powerpoint/2010/main" val="13304028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>
          <a:extLst>
            <a:ext uri="{FF2B5EF4-FFF2-40B4-BE49-F238E27FC236}">
              <a16:creationId xmlns:a16="http://schemas.microsoft.com/office/drawing/2014/main" id="{C7E63006-DEBB-1B5B-8566-DCC6FB22C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6" name="Google Shape;426;p48">
            <a:extLst>
              <a:ext uri="{FF2B5EF4-FFF2-40B4-BE49-F238E27FC236}">
                <a16:creationId xmlns:a16="http://schemas.microsoft.com/office/drawing/2014/main" id="{54221AE7-20E0-B5AD-F80C-C48363FD0EC4}"/>
              </a:ext>
            </a:extLst>
          </p:cNvPr>
          <p:cNvGrpSpPr/>
          <p:nvPr/>
        </p:nvGrpSpPr>
        <p:grpSpPr>
          <a:xfrm>
            <a:off x="4376750" y="8250"/>
            <a:ext cx="4767250" cy="6062525"/>
            <a:chOff x="4376750" y="8250"/>
            <a:chExt cx="4767250" cy="6062525"/>
          </a:xfrm>
        </p:grpSpPr>
        <p:sp>
          <p:nvSpPr>
            <p:cNvPr id="427" name="Google Shape;427;p48">
              <a:extLst>
                <a:ext uri="{FF2B5EF4-FFF2-40B4-BE49-F238E27FC236}">
                  <a16:creationId xmlns:a16="http://schemas.microsoft.com/office/drawing/2014/main" id="{C9D8E301-BE95-6DC6-0110-0ACBB4CA1763}"/>
                </a:ext>
              </a:extLst>
            </p:cNvPr>
            <p:cNvSpPr/>
            <p:nvPr/>
          </p:nvSpPr>
          <p:spPr>
            <a:xfrm>
              <a:off x="4376750" y="3025100"/>
              <a:ext cx="4170900" cy="964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428" name="Google Shape;428;p48">
              <a:extLst>
                <a:ext uri="{FF2B5EF4-FFF2-40B4-BE49-F238E27FC236}">
                  <a16:creationId xmlns:a16="http://schemas.microsoft.com/office/drawing/2014/main" id="{3833B9BC-30E2-C3A8-9FAD-64C8FB0E1247}"/>
                </a:ext>
              </a:extLst>
            </p:cNvPr>
            <p:cNvSpPr/>
            <p:nvPr/>
          </p:nvSpPr>
          <p:spPr>
            <a:xfrm rot="5400000">
              <a:off x="6098250" y="2089500"/>
              <a:ext cx="5127000" cy="964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429" name="Google Shape;429;p48">
              <a:extLst>
                <a:ext uri="{FF2B5EF4-FFF2-40B4-BE49-F238E27FC236}">
                  <a16:creationId xmlns:a16="http://schemas.microsoft.com/office/drawing/2014/main" id="{E621BC4C-56B4-56D3-07DF-29B36237EDB4}"/>
                </a:ext>
              </a:extLst>
            </p:cNvPr>
            <p:cNvSpPr/>
            <p:nvPr/>
          </p:nvSpPr>
          <p:spPr>
            <a:xfrm rot="5400000">
              <a:off x="4233350" y="3773075"/>
              <a:ext cx="3630900" cy="964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sp>
        <p:nvSpPr>
          <p:cNvPr id="430" name="Google Shape;430;p48">
            <a:extLst>
              <a:ext uri="{FF2B5EF4-FFF2-40B4-BE49-F238E27FC236}">
                <a16:creationId xmlns:a16="http://schemas.microsoft.com/office/drawing/2014/main" id="{FC2438D5-59B1-E8C2-1FA8-49D5834F77D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0" y="1100140"/>
            <a:ext cx="7704000" cy="33317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lnSpc>
                <a:spcPct val="150000"/>
              </a:lnSpc>
              <a:buNone/>
            </a:pPr>
            <a:r>
              <a:rPr lang="en-US" sz="1400" b="1" dirty="0"/>
              <a:t>Key Gaps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Vision-only models </a:t>
            </a:r>
            <a:r>
              <a:rPr lang="en-US" sz="1400" b="1" dirty="0"/>
              <a:t>miss internal spoilage</a:t>
            </a:r>
            <a:r>
              <a:rPr lang="en-US" sz="14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Hybrid models use </a:t>
            </a:r>
            <a:r>
              <a:rPr lang="en-US" sz="1400" b="1" dirty="0"/>
              <a:t>expensive sensors</a:t>
            </a:r>
            <a:r>
              <a:rPr lang="en-US" sz="14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Most systems focus on </a:t>
            </a:r>
            <a:r>
              <a:rPr lang="en-US" sz="1400" b="1" dirty="0"/>
              <a:t>accuracy</a:t>
            </a:r>
            <a:r>
              <a:rPr lang="en-US" sz="1400" dirty="0"/>
              <a:t>, not usability or speed.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Few </a:t>
            </a:r>
            <a:r>
              <a:rPr lang="en-US" sz="1400" b="1" dirty="0"/>
              <a:t>web-based, real-time, low-cost</a:t>
            </a:r>
            <a:r>
              <a:rPr lang="en-US" sz="1400" dirty="0"/>
              <a:t> solutions exist.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Gap:</a:t>
            </a:r>
            <a:r>
              <a:rPr lang="en-US" sz="1400" dirty="0"/>
              <a:t> No consumer-level, web-deployable hybrid AI for expiry prediction.</a:t>
            </a:r>
          </a:p>
          <a:p>
            <a:pPr marL="152400" indent="0">
              <a:lnSpc>
                <a:spcPct val="150000"/>
              </a:lnSpc>
              <a:buNone/>
            </a:pPr>
            <a:r>
              <a:rPr lang="en-US" sz="1400" b="1" dirty="0"/>
              <a:t>IEEE Paper (2024)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CNN-based fruit freshness detection (Paper ID 10891620)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Limitations:</a:t>
            </a:r>
            <a:endParaRPr lang="en-US" sz="1400" dirty="0"/>
          </a:p>
          <a:p>
            <a:pPr lvl="1">
              <a:lnSpc>
                <a:spcPct val="150000"/>
              </a:lnSpc>
            </a:pPr>
            <a:r>
              <a:rPr lang="en-US" sz="1400" dirty="0"/>
              <a:t>No expiry prediction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No environmental data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References:</a:t>
            </a:r>
            <a:r>
              <a:rPr lang="en-US" sz="1400" dirty="0"/>
              <a:t> IEEE, 2024; MDPI &amp; IEEE Reviews, 2024–2025</a:t>
            </a:r>
          </a:p>
        </p:txBody>
      </p:sp>
      <p:sp>
        <p:nvSpPr>
          <p:cNvPr id="431" name="Google Shape;431;p48">
            <a:extLst>
              <a:ext uri="{FF2B5EF4-FFF2-40B4-BE49-F238E27FC236}">
                <a16:creationId xmlns:a16="http://schemas.microsoft.com/office/drawing/2014/main" id="{B2B6C5C9-6695-13EF-C6C4-F84F60B54B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Key Gaps &amp; IEEE Paper</a:t>
            </a:r>
            <a:endParaRPr dirty="0"/>
          </a:p>
        </p:txBody>
      </p:sp>
      <p:sp>
        <p:nvSpPr>
          <p:cNvPr id="434" name="Google Shape;434;p48">
            <a:extLst>
              <a:ext uri="{FF2B5EF4-FFF2-40B4-BE49-F238E27FC236}">
                <a16:creationId xmlns:a16="http://schemas.microsoft.com/office/drawing/2014/main" id="{52B9E767-319B-4F4C-1198-5DA76BB2338E}"/>
              </a:ext>
            </a:extLst>
          </p:cNvPr>
          <p:cNvSpPr/>
          <p:nvPr/>
        </p:nvSpPr>
        <p:spPr>
          <a:xfrm>
            <a:off x="6825050" y="1781100"/>
            <a:ext cx="1087800" cy="7698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</p:spTree>
    <p:extLst>
      <p:ext uri="{BB962C8B-B14F-4D97-AF65-F5344CB8AC3E}">
        <p14:creationId xmlns:p14="http://schemas.microsoft.com/office/powerpoint/2010/main" val="5091018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>
          <a:extLst>
            <a:ext uri="{FF2B5EF4-FFF2-40B4-BE49-F238E27FC236}">
              <a16:creationId xmlns:a16="http://schemas.microsoft.com/office/drawing/2014/main" id="{897FFB93-23CC-1419-4AFE-544EC9861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6" name="Google Shape;426;p48">
            <a:extLst>
              <a:ext uri="{FF2B5EF4-FFF2-40B4-BE49-F238E27FC236}">
                <a16:creationId xmlns:a16="http://schemas.microsoft.com/office/drawing/2014/main" id="{ED51DD6C-6093-7C57-739E-65519F30DCDD}"/>
              </a:ext>
            </a:extLst>
          </p:cNvPr>
          <p:cNvGrpSpPr/>
          <p:nvPr/>
        </p:nvGrpSpPr>
        <p:grpSpPr>
          <a:xfrm>
            <a:off x="4376750" y="8250"/>
            <a:ext cx="4767250" cy="6062525"/>
            <a:chOff x="4376750" y="8250"/>
            <a:chExt cx="4767250" cy="6062525"/>
          </a:xfrm>
        </p:grpSpPr>
        <p:sp>
          <p:nvSpPr>
            <p:cNvPr id="427" name="Google Shape;427;p48">
              <a:extLst>
                <a:ext uri="{FF2B5EF4-FFF2-40B4-BE49-F238E27FC236}">
                  <a16:creationId xmlns:a16="http://schemas.microsoft.com/office/drawing/2014/main" id="{EE40D9B7-7B8E-320E-A965-46E23A0D494D}"/>
                </a:ext>
              </a:extLst>
            </p:cNvPr>
            <p:cNvSpPr/>
            <p:nvPr/>
          </p:nvSpPr>
          <p:spPr>
            <a:xfrm>
              <a:off x="4376750" y="3025100"/>
              <a:ext cx="4170900" cy="964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428" name="Google Shape;428;p48">
              <a:extLst>
                <a:ext uri="{FF2B5EF4-FFF2-40B4-BE49-F238E27FC236}">
                  <a16:creationId xmlns:a16="http://schemas.microsoft.com/office/drawing/2014/main" id="{82D1C11D-7FBD-6801-C7FF-2BCBE1919AA9}"/>
                </a:ext>
              </a:extLst>
            </p:cNvPr>
            <p:cNvSpPr/>
            <p:nvPr/>
          </p:nvSpPr>
          <p:spPr>
            <a:xfrm rot="5400000">
              <a:off x="6098250" y="2089500"/>
              <a:ext cx="5127000" cy="964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429" name="Google Shape;429;p48">
              <a:extLst>
                <a:ext uri="{FF2B5EF4-FFF2-40B4-BE49-F238E27FC236}">
                  <a16:creationId xmlns:a16="http://schemas.microsoft.com/office/drawing/2014/main" id="{D1389503-8BFF-924E-F1C0-D544B55513CE}"/>
                </a:ext>
              </a:extLst>
            </p:cNvPr>
            <p:cNvSpPr/>
            <p:nvPr/>
          </p:nvSpPr>
          <p:spPr>
            <a:xfrm rot="5400000">
              <a:off x="4233350" y="3773075"/>
              <a:ext cx="3630900" cy="964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sp>
        <p:nvSpPr>
          <p:cNvPr id="430" name="Google Shape;430;p48">
            <a:extLst>
              <a:ext uri="{FF2B5EF4-FFF2-40B4-BE49-F238E27FC236}">
                <a16:creationId xmlns:a16="http://schemas.microsoft.com/office/drawing/2014/main" id="{1CCFFED8-8D01-FA23-E882-BAD4EFB7177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0" y="1153900"/>
            <a:ext cx="7264671" cy="33317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sz="1600" dirty="0"/>
              <a:t>Combines </a:t>
            </a:r>
            <a:r>
              <a:rPr lang="en-US" sz="1600" b="1" dirty="0"/>
              <a:t>RGB images + temperature + humidity</a:t>
            </a:r>
            <a:r>
              <a:rPr lang="en-US" sz="1600" dirty="0"/>
              <a:t> for prediction.</a:t>
            </a:r>
          </a:p>
          <a:p>
            <a:pPr marL="4953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sz="1600" dirty="0"/>
              <a:t>Predicts </a:t>
            </a:r>
            <a:r>
              <a:rPr lang="en-US" sz="1600" b="1" dirty="0"/>
              <a:t>remaining shelf-life days</a:t>
            </a:r>
            <a:r>
              <a:rPr lang="en-US" sz="1600" dirty="0"/>
              <a:t>, not just fresh/rotten.</a:t>
            </a:r>
          </a:p>
          <a:p>
            <a:pPr marL="4953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sz="1600" b="1" dirty="0"/>
              <a:t>Web-based dashboard</a:t>
            </a:r>
            <a:r>
              <a:rPr lang="en-US" sz="1600" dirty="0"/>
              <a:t> with </a:t>
            </a:r>
            <a:r>
              <a:rPr lang="en-US" sz="1600" b="1" dirty="0"/>
              <a:t>real-time results (~5 s)</a:t>
            </a:r>
            <a:r>
              <a:rPr lang="en-US" sz="1600" dirty="0"/>
              <a:t>.</a:t>
            </a:r>
          </a:p>
          <a:p>
            <a:pPr marL="4953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sz="1600" b="1" dirty="0"/>
              <a:t>Admin portal</a:t>
            </a:r>
            <a:r>
              <a:rPr lang="en-US" sz="1600" dirty="0"/>
              <a:t> allows updates and continuous learning.</a:t>
            </a:r>
          </a:p>
          <a:p>
            <a:pPr marL="4953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sz="1600" dirty="0"/>
              <a:t>Designed for </a:t>
            </a:r>
            <a:r>
              <a:rPr lang="en-US" sz="1600" b="1" dirty="0"/>
              <a:t>retailers, restaurants, and consumers</a:t>
            </a:r>
            <a:r>
              <a:rPr lang="en-US" sz="1600" dirty="0"/>
              <a:t> to reduce waste and improve safety.</a:t>
            </a:r>
          </a:p>
          <a:p>
            <a:pPr marL="152400" indent="0" algn="just">
              <a:lnSpc>
                <a:spcPct val="200000"/>
              </a:lnSpc>
              <a:buNone/>
            </a:pPr>
            <a:r>
              <a:rPr lang="en-US" sz="1600" b="1" dirty="0"/>
              <a:t>References:</a:t>
            </a:r>
            <a:r>
              <a:rPr lang="en-US" sz="1600" dirty="0"/>
              <a:t> IEEE, 2024; MDPI &amp; IEEE Reviews, 2024–2025</a:t>
            </a:r>
          </a:p>
        </p:txBody>
      </p:sp>
      <p:sp>
        <p:nvSpPr>
          <p:cNvPr id="431" name="Google Shape;431;p48">
            <a:extLst>
              <a:ext uri="{FF2B5EF4-FFF2-40B4-BE49-F238E27FC236}">
                <a16:creationId xmlns:a16="http://schemas.microsoft.com/office/drawing/2014/main" id="{61DCAC8D-F49E-55DF-3979-55D2A522F9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Project Contribution</a:t>
            </a:r>
            <a:endParaRPr dirty="0"/>
          </a:p>
        </p:txBody>
      </p:sp>
      <p:sp>
        <p:nvSpPr>
          <p:cNvPr id="434" name="Google Shape;434;p48">
            <a:extLst>
              <a:ext uri="{FF2B5EF4-FFF2-40B4-BE49-F238E27FC236}">
                <a16:creationId xmlns:a16="http://schemas.microsoft.com/office/drawing/2014/main" id="{71ADA649-748E-CAF1-3AD1-ED7E59403BD3}"/>
              </a:ext>
            </a:extLst>
          </p:cNvPr>
          <p:cNvSpPr/>
          <p:nvPr/>
        </p:nvSpPr>
        <p:spPr>
          <a:xfrm>
            <a:off x="6825050" y="1781100"/>
            <a:ext cx="1087800" cy="7698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</p:spTree>
    <p:extLst>
      <p:ext uri="{BB962C8B-B14F-4D97-AF65-F5344CB8AC3E}">
        <p14:creationId xmlns:p14="http://schemas.microsoft.com/office/powerpoint/2010/main" val="14440753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0"/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Research Gaps &amp; Solutions</a:t>
            </a:r>
            <a:endParaRPr dirty="0"/>
          </a:p>
        </p:txBody>
      </p:sp>
      <p:graphicFrame>
        <p:nvGraphicFramePr>
          <p:cNvPr id="288" name="Google Shape;288;p40"/>
          <p:cNvGraphicFramePr/>
          <p:nvPr>
            <p:extLst>
              <p:ext uri="{D42A27DB-BD31-4B8C-83A1-F6EECF244321}">
                <p14:modId xmlns:p14="http://schemas.microsoft.com/office/powerpoint/2010/main" val="2656726945"/>
              </p:ext>
            </p:extLst>
          </p:nvPr>
        </p:nvGraphicFramePr>
        <p:xfrm>
          <a:off x="719999" y="1493624"/>
          <a:ext cx="7704001" cy="2804160"/>
        </p:xfrm>
        <a:graphic>
          <a:graphicData uri="http://schemas.openxmlformats.org/drawingml/2006/table">
            <a:tbl>
              <a:tblPr>
                <a:noFill/>
                <a:tableStyleId>{D20D7D81-2994-40C8-821F-EE4B5BFBA544}</a:tableStyleId>
              </a:tblPr>
              <a:tblGrid>
                <a:gridCol w="2166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5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59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59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81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Research Area</a:t>
                      </a:r>
                      <a:endParaRPr lang="en-US" dirty="0"/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Gap in Existing Studies</a:t>
                      </a:r>
                      <a:endParaRPr lang="en-US"/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Contribution</a:t>
                      </a:r>
                      <a:endParaRPr lang="en-US"/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Research Area</a:t>
                      </a:r>
                      <a:endParaRPr lang="en-US"/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7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 Fusion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Image-only or environment-only models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Hybrid AI using both inputs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 Fusion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1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Output Type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Categorical only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Adds numeric remaining days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Output Type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81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Platform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Mobile/industrial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Web-based dashboard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Platform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81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Real-Time Use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Slow, offline prototypes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≤5 s inference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Real-Time Use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B72077F4-F8C8-342F-700E-581CF347F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>
            <a:extLst>
              <a:ext uri="{FF2B5EF4-FFF2-40B4-BE49-F238E27FC236}">
                <a16:creationId xmlns:a16="http://schemas.microsoft.com/office/drawing/2014/main" id="{88237ADD-23CD-B2EB-D1B0-322E306AAB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35036" y="2232350"/>
            <a:ext cx="6408963" cy="1912500"/>
          </a:xfrm>
          <a:prstGeom prst="rect">
            <a:avLst/>
          </a:prstGeom>
        </p:spPr>
        <p:txBody>
          <a:bodyPr spcFirstLastPara="1" wrap="square" lIns="91425" tIns="91425" rIns="731500" bIns="91425" anchor="ctr" anchorCtr="0">
            <a:noAutofit/>
          </a:bodyPr>
          <a:lstStyle/>
          <a:p>
            <a:pPr marL="0" lvl="0" indent="0"/>
            <a:r>
              <a:rPr lang="en-US" dirty="0"/>
              <a:t>Proposed Technique/Solution</a:t>
            </a:r>
          </a:p>
        </p:txBody>
      </p:sp>
      <p:sp>
        <p:nvSpPr>
          <p:cNvPr id="183" name="Google Shape;183;p32">
            <a:extLst>
              <a:ext uri="{FF2B5EF4-FFF2-40B4-BE49-F238E27FC236}">
                <a16:creationId xmlns:a16="http://schemas.microsoft.com/office/drawing/2014/main" id="{96A8A81D-3B85-BF95-6E66-5080BA41C43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735036" y="1085057"/>
            <a:ext cx="1642200" cy="97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26738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6"/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Overview &amp; System Architecture</a:t>
            </a:r>
            <a:endParaRPr dirty="0"/>
          </a:p>
        </p:txBody>
      </p:sp>
      <p:graphicFrame>
        <p:nvGraphicFramePr>
          <p:cNvPr id="394" name="Google Shape;394;p46"/>
          <p:cNvGraphicFramePr/>
          <p:nvPr>
            <p:extLst>
              <p:ext uri="{D42A27DB-BD31-4B8C-83A1-F6EECF244321}">
                <p14:modId xmlns:p14="http://schemas.microsoft.com/office/powerpoint/2010/main" val="962208346"/>
              </p:ext>
            </p:extLst>
          </p:nvPr>
        </p:nvGraphicFramePr>
        <p:xfrm>
          <a:off x="719998" y="1276535"/>
          <a:ext cx="3852002" cy="3385997"/>
        </p:xfrm>
        <a:graphic>
          <a:graphicData uri="http://schemas.openxmlformats.org/drawingml/2006/table">
            <a:tbl>
              <a:tblPr>
                <a:noFill/>
                <a:tableStyleId>{25093472-E142-4E47-A3BD-7E14E38A6F57}</a:tableStyleId>
              </a:tblPr>
              <a:tblGrid>
                <a:gridCol w="1321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09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656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1" dirty="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Component</a:t>
                      </a: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	</a:t>
                      </a:r>
                      <a:endParaRPr sz="1400" b="1" dirty="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Purpose</a:t>
                      </a:r>
                      <a:endParaRPr sz="1400" b="1" dirty="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467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User Portal</a:t>
                      </a:r>
                      <a:endParaRPr sz="1200" b="1" dirty="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/>
                        <a:t>Upload images, input environmental data, view results &amp; history</a:t>
                      </a:r>
                      <a:endParaRPr sz="1400" dirty="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467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Admin Portal</a:t>
                      </a:r>
                      <a:endParaRPr sz="1200" b="1" dirty="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/>
                        <a:t>Manage datasets, retrain models, monitor performance</a:t>
                      </a:r>
                      <a:endParaRPr sz="1400" dirty="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467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AI Model</a:t>
                      </a:r>
                      <a:endParaRPr sz="1200" b="1" dirty="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CNN extracts image features + environmental data → freshness prediction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95" name="Google Shape;395;p46"/>
          <p:cNvSpPr txBox="1"/>
          <p:nvPr/>
        </p:nvSpPr>
        <p:spPr>
          <a:xfrm>
            <a:off x="4327475" y="1276525"/>
            <a:ext cx="1800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Overview</a:t>
            </a:r>
            <a:endParaRPr sz="1800" b="1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99" name="Google Shape;399;p46"/>
          <p:cNvSpPr txBox="1"/>
          <p:nvPr/>
        </p:nvSpPr>
        <p:spPr>
          <a:xfrm>
            <a:off x="4637314" y="1676725"/>
            <a:ext cx="3696000" cy="2816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AI web app predicts fruit expiry using images + environmental data.</a:t>
            </a:r>
          </a:p>
          <a:p>
            <a:pPr marL="2857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Reduces food waste &amp; improves safety.</a:t>
            </a:r>
          </a:p>
          <a:p>
            <a:pPr marL="2857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Affordable and easy-to-use for vendors, restaurants, small businesses</a:t>
            </a:r>
            <a:endParaRPr sz="1600" b="1" u="sng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>
          <a:extLst>
            <a:ext uri="{FF2B5EF4-FFF2-40B4-BE49-F238E27FC236}">
              <a16:creationId xmlns:a16="http://schemas.microsoft.com/office/drawing/2014/main" id="{D8A64061-56AE-5809-71A7-3B1E3740A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6">
            <a:extLst>
              <a:ext uri="{FF2B5EF4-FFF2-40B4-BE49-F238E27FC236}">
                <a16:creationId xmlns:a16="http://schemas.microsoft.com/office/drawing/2014/main" id="{C29D6EE9-E058-A5E9-0DE2-E4FCC84141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Data, Inputs &amp; Outputs</a:t>
            </a:r>
            <a:endParaRPr dirty="0"/>
          </a:p>
        </p:txBody>
      </p:sp>
      <p:graphicFrame>
        <p:nvGraphicFramePr>
          <p:cNvPr id="394" name="Google Shape;394;p46">
            <a:extLst>
              <a:ext uri="{FF2B5EF4-FFF2-40B4-BE49-F238E27FC236}">
                <a16:creationId xmlns:a16="http://schemas.microsoft.com/office/drawing/2014/main" id="{CAA8A033-D3A4-E2A8-033B-905018DA00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275061"/>
              </p:ext>
            </p:extLst>
          </p:nvPr>
        </p:nvGraphicFramePr>
        <p:xfrm>
          <a:off x="719998" y="1276535"/>
          <a:ext cx="3607477" cy="1956523"/>
        </p:xfrm>
        <a:graphic>
          <a:graphicData uri="http://schemas.openxmlformats.org/drawingml/2006/table">
            <a:tbl>
              <a:tblPr>
                <a:noFill/>
                <a:tableStyleId>{25093472-E142-4E47-A3BD-7E14E38A6F57}</a:tableStyleId>
              </a:tblPr>
              <a:tblGrid>
                <a:gridCol w="12372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02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3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Type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Method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Fruit Images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DSLR or phone camera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Environmental Data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Temperature &amp; humidity meters, light sensor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Labeling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Admin portal for freshness tagging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95" name="Google Shape;395;p46">
            <a:extLst>
              <a:ext uri="{FF2B5EF4-FFF2-40B4-BE49-F238E27FC236}">
                <a16:creationId xmlns:a16="http://schemas.microsoft.com/office/drawing/2014/main" id="{998CCB10-FAB2-1503-B0BB-517EFE7F34D0}"/>
              </a:ext>
            </a:extLst>
          </p:cNvPr>
          <p:cNvSpPr txBox="1"/>
          <p:nvPr/>
        </p:nvSpPr>
        <p:spPr>
          <a:xfrm>
            <a:off x="313068" y="3361463"/>
            <a:ext cx="1390949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Input</a:t>
            </a:r>
            <a:endParaRPr sz="1800" b="1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99" name="Google Shape;399;p46">
            <a:extLst>
              <a:ext uri="{FF2B5EF4-FFF2-40B4-BE49-F238E27FC236}">
                <a16:creationId xmlns:a16="http://schemas.microsoft.com/office/drawing/2014/main" id="{0D2F649A-257C-2EA3-D59A-2AD83DD7379C}"/>
              </a:ext>
            </a:extLst>
          </p:cNvPr>
          <p:cNvSpPr txBox="1"/>
          <p:nvPr/>
        </p:nvSpPr>
        <p:spPr>
          <a:xfrm>
            <a:off x="631475" y="3725960"/>
            <a:ext cx="3696000" cy="1229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lvl="0" indent="-1714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u="sng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Fruit image (e.g., apple_day3.jpg)</a:t>
            </a:r>
          </a:p>
          <a:p>
            <a:pPr marL="171450" lvl="0" indent="-1714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u="sng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Temperature (°C), Humidity (%), Light intensity (lux)</a:t>
            </a:r>
            <a:endParaRPr u="sng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" name="Google Shape;395;p46">
            <a:extLst>
              <a:ext uri="{FF2B5EF4-FFF2-40B4-BE49-F238E27FC236}">
                <a16:creationId xmlns:a16="http://schemas.microsoft.com/office/drawing/2014/main" id="{933DCBCF-5180-0381-0C3B-D5400FBEF816}"/>
              </a:ext>
            </a:extLst>
          </p:cNvPr>
          <p:cNvSpPr txBox="1"/>
          <p:nvPr/>
        </p:nvSpPr>
        <p:spPr>
          <a:xfrm>
            <a:off x="4645077" y="1188292"/>
            <a:ext cx="1390949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Output</a:t>
            </a:r>
            <a:endParaRPr sz="1800" b="1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aphicFrame>
        <p:nvGraphicFramePr>
          <p:cNvPr id="7" name="Google Shape;394;p46">
            <a:extLst>
              <a:ext uri="{FF2B5EF4-FFF2-40B4-BE49-F238E27FC236}">
                <a16:creationId xmlns:a16="http://schemas.microsoft.com/office/drawing/2014/main" id="{A34E013A-E71C-BB88-A06E-554CB33E32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5593793"/>
              </p:ext>
            </p:extLst>
          </p:nvPr>
        </p:nvGraphicFramePr>
        <p:xfrm>
          <a:off x="4880555" y="1676735"/>
          <a:ext cx="3696000" cy="3172852"/>
        </p:xfrm>
        <a:graphic>
          <a:graphicData uri="http://schemas.openxmlformats.org/drawingml/2006/table">
            <a:tbl>
              <a:tblPr>
                <a:noFill/>
                <a:tableStyleId>{25093472-E142-4E47-A3BD-7E14E38A6F57}</a:tableStyleId>
              </a:tblPr>
              <a:tblGrid>
                <a:gridCol w="1487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8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2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Output Type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Example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33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Expiry Status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Fresh / Expiring Soon / Expired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33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Remaining Freshness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1.8 days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33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Dashboard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Shows fruit image, status, chart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01746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>
          <a:extLst>
            <a:ext uri="{FF2B5EF4-FFF2-40B4-BE49-F238E27FC236}">
              <a16:creationId xmlns:a16="http://schemas.microsoft.com/office/drawing/2014/main" id="{EA64A86D-13E0-9CC1-0901-5434EA660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6">
            <a:extLst>
              <a:ext uri="{FF2B5EF4-FFF2-40B4-BE49-F238E27FC236}">
                <a16:creationId xmlns:a16="http://schemas.microsoft.com/office/drawing/2014/main" id="{FBF6B429-C64E-3743-F988-7F1347C9E2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Overview &amp; System Architecture</a:t>
            </a:r>
            <a:endParaRPr dirty="0"/>
          </a:p>
        </p:txBody>
      </p:sp>
      <p:graphicFrame>
        <p:nvGraphicFramePr>
          <p:cNvPr id="394" name="Google Shape;394;p46">
            <a:extLst>
              <a:ext uri="{FF2B5EF4-FFF2-40B4-BE49-F238E27FC236}">
                <a16:creationId xmlns:a16="http://schemas.microsoft.com/office/drawing/2014/main" id="{10C69C08-C79C-3CB2-E2AA-E9F6DA8083F8}"/>
              </a:ext>
            </a:extLst>
          </p:cNvPr>
          <p:cNvGraphicFramePr/>
          <p:nvPr/>
        </p:nvGraphicFramePr>
        <p:xfrm>
          <a:off x="719998" y="1276535"/>
          <a:ext cx="3852002" cy="3385997"/>
        </p:xfrm>
        <a:graphic>
          <a:graphicData uri="http://schemas.openxmlformats.org/drawingml/2006/table">
            <a:tbl>
              <a:tblPr>
                <a:noFill/>
                <a:tableStyleId>{25093472-E142-4E47-A3BD-7E14E38A6F57}</a:tableStyleId>
              </a:tblPr>
              <a:tblGrid>
                <a:gridCol w="1321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09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656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1" dirty="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Component</a:t>
                      </a: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	</a:t>
                      </a:r>
                      <a:endParaRPr sz="1400" b="1" dirty="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Purpose</a:t>
                      </a:r>
                      <a:endParaRPr sz="1400" b="1" dirty="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45700" marB="457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467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User Portal</a:t>
                      </a:r>
                      <a:endParaRPr sz="1200" b="1" dirty="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/>
                        <a:t>Upload images, input environmental data, view results &amp; history</a:t>
                      </a:r>
                      <a:endParaRPr sz="1400" dirty="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467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Admin Portal</a:t>
                      </a:r>
                      <a:endParaRPr sz="1200" b="1" dirty="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/>
                        <a:t>Manage datasets, retrain models, monitor performance</a:t>
                      </a:r>
                      <a:endParaRPr sz="1400" dirty="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467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AI Model</a:t>
                      </a:r>
                      <a:endParaRPr sz="1200" b="1" dirty="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CNN extracts image features + environmental data → freshness prediction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95" name="Google Shape;395;p46">
            <a:extLst>
              <a:ext uri="{FF2B5EF4-FFF2-40B4-BE49-F238E27FC236}">
                <a16:creationId xmlns:a16="http://schemas.microsoft.com/office/drawing/2014/main" id="{907FB1D2-3426-DBC4-1912-98693FDBAF54}"/>
              </a:ext>
            </a:extLst>
          </p:cNvPr>
          <p:cNvSpPr txBox="1"/>
          <p:nvPr/>
        </p:nvSpPr>
        <p:spPr>
          <a:xfrm>
            <a:off x="4327475" y="1276525"/>
            <a:ext cx="1800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Overview</a:t>
            </a:r>
            <a:endParaRPr sz="1800" b="1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99" name="Google Shape;399;p46">
            <a:extLst>
              <a:ext uri="{FF2B5EF4-FFF2-40B4-BE49-F238E27FC236}">
                <a16:creationId xmlns:a16="http://schemas.microsoft.com/office/drawing/2014/main" id="{210B35CC-DDDE-9628-072B-48777636A817}"/>
              </a:ext>
            </a:extLst>
          </p:cNvPr>
          <p:cNvSpPr txBox="1"/>
          <p:nvPr/>
        </p:nvSpPr>
        <p:spPr>
          <a:xfrm>
            <a:off x="4637314" y="1676725"/>
            <a:ext cx="3696000" cy="2816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AI web app predicts fruit expiry using images + environmental data.</a:t>
            </a:r>
          </a:p>
          <a:p>
            <a:pPr marL="2857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Reduces food waste &amp; improves safety.</a:t>
            </a:r>
          </a:p>
          <a:p>
            <a:pPr marL="2857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Affordable and easy-to-use for vendors, restaurants, small businesses</a:t>
            </a:r>
            <a:endParaRPr sz="1600" b="1" u="sng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  <p:extLst>
      <p:ext uri="{BB962C8B-B14F-4D97-AF65-F5344CB8AC3E}">
        <p14:creationId xmlns:p14="http://schemas.microsoft.com/office/powerpoint/2010/main" val="6227760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>
          <a:extLst>
            <a:ext uri="{FF2B5EF4-FFF2-40B4-BE49-F238E27FC236}">
              <a16:creationId xmlns:a16="http://schemas.microsoft.com/office/drawing/2014/main" id="{BD9A64E6-F151-4670-2940-DC7BF0653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6">
            <a:extLst>
              <a:ext uri="{FF2B5EF4-FFF2-40B4-BE49-F238E27FC236}">
                <a16:creationId xmlns:a16="http://schemas.microsoft.com/office/drawing/2014/main" id="{6FBEFCE8-D701-9950-8CAB-811DB0C45F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FUNCTIONAL DASHBOARD</a:t>
            </a:r>
            <a:endParaRPr dirty="0"/>
          </a:p>
        </p:txBody>
      </p:sp>
      <p:graphicFrame>
        <p:nvGraphicFramePr>
          <p:cNvPr id="394" name="Google Shape;394;p46">
            <a:extLst>
              <a:ext uri="{FF2B5EF4-FFF2-40B4-BE49-F238E27FC236}">
                <a16:creationId xmlns:a16="http://schemas.microsoft.com/office/drawing/2014/main" id="{5356FE4A-42CD-E274-D42D-B5A0D87156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2569430"/>
              </p:ext>
            </p:extLst>
          </p:nvPr>
        </p:nvGraphicFramePr>
        <p:xfrm>
          <a:off x="720000" y="1276534"/>
          <a:ext cx="3696000" cy="3468916"/>
        </p:xfrm>
        <a:graphic>
          <a:graphicData uri="http://schemas.openxmlformats.org/drawingml/2006/table">
            <a:tbl>
              <a:tblPr>
                <a:noFill/>
                <a:tableStyleId>{25093472-E142-4E47-A3BD-7E14E38A6F57}</a:tableStyleId>
              </a:tblPr>
              <a:tblGrid>
                <a:gridCol w="14190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69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65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Component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Tools / Technology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5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Frontend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React.js, Tailwind CSS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1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Backend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Flask / Django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5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AI Model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TensorFlow / PyTorch, </a:t>
                      </a:r>
                      <a:r>
                        <a:rPr lang="en-US" b="1"/>
                        <a:t>Jupyter Notebook</a:t>
                      </a:r>
                      <a:endParaRPr lang="en-US"/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1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Database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MySQL / Firebase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IDE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VS Code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71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Hosting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AWS / </a:t>
                      </a:r>
                      <a:r>
                        <a:rPr lang="en-US" dirty="0" err="1"/>
                        <a:t>Vercel</a:t>
                      </a:r>
                      <a:endParaRPr lang="en-US" dirty="0"/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95" name="Google Shape;395;p46">
            <a:extLst>
              <a:ext uri="{FF2B5EF4-FFF2-40B4-BE49-F238E27FC236}">
                <a16:creationId xmlns:a16="http://schemas.microsoft.com/office/drawing/2014/main" id="{2FEBE437-26EA-34A7-D6ED-68EFF77900C4}"/>
              </a:ext>
            </a:extLst>
          </p:cNvPr>
          <p:cNvSpPr txBox="1"/>
          <p:nvPr/>
        </p:nvSpPr>
        <p:spPr>
          <a:xfrm>
            <a:off x="4572000" y="1209602"/>
            <a:ext cx="3695999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Functional Requirements</a:t>
            </a:r>
          </a:p>
        </p:txBody>
      </p:sp>
      <p:sp>
        <p:nvSpPr>
          <p:cNvPr id="399" name="Google Shape;399;p46">
            <a:extLst>
              <a:ext uri="{FF2B5EF4-FFF2-40B4-BE49-F238E27FC236}">
                <a16:creationId xmlns:a16="http://schemas.microsoft.com/office/drawing/2014/main" id="{CAE589B9-3FC9-EA54-8BB6-C32A8403170C}"/>
              </a:ext>
            </a:extLst>
          </p:cNvPr>
          <p:cNvSpPr txBox="1"/>
          <p:nvPr/>
        </p:nvSpPr>
        <p:spPr>
          <a:xfrm>
            <a:off x="4571999" y="1796048"/>
            <a:ext cx="3696000" cy="947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Upload image &amp; environmental data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Display freshness &amp; remaining days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History tracking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Admin retraining &amp; dataset management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Real-time dashboard updates</a:t>
            </a:r>
          </a:p>
        </p:txBody>
      </p:sp>
      <p:sp>
        <p:nvSpPr>
          <p:cNvPr id="2" name="Google Shape;395;p46">
            <a:extLst>
              <a:ext uri="{FF2B5EF4-FFF2-40B4-BE49-F238E27FC236}">
                <a16:creationId xmlns:a16="http://schemas.microsoft.com/office/drawing/2014/main" id="{B02C3537-1E7C-67D6-E4D3-414AE2673F0E}"/>
              </a:ext>
            </a:extLst>
          </p:cNvPr>
          <p:cNvSpPr txBox="1"/>
          <p:nvPr/>
        </p:nvSpPr>
        <p:spPr>
          <a:xfrm>
            <a:off x="4572000" y="2996451"/>
            <a:ext cx="3695999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Non- Functional Requirements</a:t>
            </a:r>
          </a:p>
        </p:txBody>
      </p:sp>
      <p:sp>
        <p:nvSpPr>
          <p:cNvPr id="3" name="Google Shape;399;p46">
            <a:extLst>
              <a:ext uri="{FF2B5EF4-FFF2-40B4-BE49-F238E27FC236}">
                <a16:creationId xmlns:a16="http://schemas.microsoft.com/office/drawing/2014/main" id="{46AAC762-EB0B-5C27-6F3A-0F8B32D1B007}"/>
              </a:ext>
            </a:extLst>
          </p:cNvPr>
          <p:cNvSpPr txBox="1"/>
          <p:nvPr/>
        </p:nvSpPr>
        <p:spPr>
          <a:xfrm>
            <a:off x="4571999" y="3649998"/>
            <a:ext cx="3696000" cy="947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Prediction ≤ 5 seconds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Secure: HTTPS, login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User-friendly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Scalable &amp; maintainable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Reliable: 99% uptime</a:t>
            </a:r>
          </a:p>
        </p:txBody>
      </p:sp>
    </p:spTree>
    <p:extLst>
      <p:ext uri="{BB962C8B-B14F-4D97-AF65-F5344CB8AC3E}">
        <p14:creationId xmlns:p14="http://schemas.microsoft.com/office/powerpoint/2010/main" val="42293334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708A34E1-F158-3835-ABF5-AB4F69964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>
            <a:extLst>
              <a:ext uri="{FF2B5EF4-FFF2-40B4-BE49-F238E27FC236}">
                <a16:creationId xmlns:a16="http://schemas.microsoft.com/office/drawing/2014/main" id="{0382E137-E46A-4FDF-9993-F5406054D6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35036" y="2232350"/>
            <a:ext cx="6408963" cy="1912500"/>
          </a:xfrm>
          <a:prstGeom prst="rect">
            <a:avLst/>
          </a:prstGeom>
        </p:spPr>
        <p:txBody>
          <a:bodyPr spcFirstLastPara="1" wrap="square" lIns="91425" tIns="91425" rIns="731500" bIns="91425" anchor="ctr" anchorCtr="0">
            <a:noAutofit/>
          </a:bodyPr>
          <a:lstStyle/>
          <a:p>
            <a:pPr marL="0" lvl="0" indent="0"/>
            <a:r>
              <a:rPr lang="en-US" dirty="0"/>
              <a:t>Feasibility Analysis</a:t>
            </a:r>
          </a:p>
        </p:txBody>
      </p:sp>
      <p:sp>
        <p:nvSpPr>
          <p:cNvPr id="183" name="Google Shape;183;p32">
            <a:extLst>
              <a:ext uri="{FF2B5EF4-FFF2-40B4-BE49-F238E27FC236}">
                <a16:creationId xmlns:a16="http://schemas.microsoft.com/office/drawing/2014/main" id="{FD00CB55-D9A4-33D7-60BD-297D9C29976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735036" y="1085057"/>
            <a:ext cx="1642200" cy="97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809179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>
          <a:extLst>
            <a:ext uri="{FF2B5EF4-FFF2-40B4-BE49-F238E27FC236}">
              <a16:creationId xmlns:a16="http://schemas.microsoft.com/office/drawing/2014/main" id="{4F2EC2E2-D04C-D6BE-8CE8-324F886DE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6" name="Google Shape;426;p48">
            <a:extLst>
              <a:ext uri="{FF2B5EF4-FFF2-40B4-BE49-F238E27FC236}">
                <a16:creationId xmlns:a16="http://schemas.microsoft.com/office/drawing/2014/main" id="{384902A5-D31D-DF76-53E2-F91BBA8446A7}"/>
              </a:ext>
            </a:extLst>
          </p:cNvPr>
          <p:cNvGrpSpPr/>
          <p:nvPr/>
        </p:nvGrpSpPr>
        <p:grpSpPr>
          <a:xfrm>
            <a:off x="4376750" y="8250"/>
            <a:ext cx="4767250" cy="6062525"/>
            <a:chOff x="4376750" y="8250"/>
            <a:chExt cx="4767250" cy="6062525"/>
          </a:xfrm>
        </p:grpSpPr>
        <p:sp>
          <p:nvSpPr>
            <p:cNvPr id="427" name="Google Shape;427;p48">
              <a:extLst>
                <a:ext uri="{FF2B5EF4-FFF2-40B4-BE49-F238E27FC236}">
                  <a16:creationId xmlns:a16="http://schemas.microsoft.com/office/drawing/2014/main" id="{39652EB1-D7A2-9E3F-A8C8-70779EC2D43E}"/>
                </a:ext>
              </a:extLst>
            </p:cNvPr>
            <p:cNvSpPr/>
            <p:nvPr/>
          </p:nvSpPr>
          <p:spPr>
            <a:xfrm>
              <a:off x="4376750" y="3025100"/>
              <a:ext cx="4170900" cy="964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428" name="Google Shape;428;p48">
              <a:extLst>
                <a:ext uri="{FF2B5EF4-FFF2-40B4-BE49-F238E27FC236}">
                  <a16:creationId xmlns:a16="http://schemas.microsoft.com/office/drawing/2014/main" id="{3A17FD54-D553-B5DB-B677-80105CDAD0C8}"/>
                </a:ext>
              </a:extLst>
            </p:cNvPr>
            <p:cNvSpPr/>
            <p:nvPr/>
          </p:nvSpPr>
          <p:spPr>
            <a:xfrm rot="5400000">
              <a:off x="6098250" y="2089500"/>
              <a:ext cx="5127000" cy="964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429" name="Google Shape;429;p48">
              <a:extLst>
                <a:ext uri="{FF2B5EF4-FFF2-40B4-BE49-F238E27FC236}">
                  <a16:creationId xmlns:a16="http://schemas.microsoft.com/office/drawing/2014/main" id="{70B79FBB-5ADA-D806-67CA-C370FFF7E0C3}"/>
                </a:ext>
              </a:extLst>
            </p:cNvPr>
            <p:cNvSpPr/>
            <p:nvPr/>
          </p:nvSpPr>
          <p:spPr>
            <a:xfrm rot="5400000">
              <a:off x="4233350" y="3773075"/>
              <a:ext cx="3630900" cy="964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sp>
        <p:nvSpPr>
          <p:cNvPr id="430" name="Google Shape;430;p48">
            <a:extLst>
              <a:ext uri="{FF2B5EF4-FFF2-40B4-BE49-F238E27FC236}">
                <a16:creationId xmlns:a16="http://schemas.microsoft.com/office/drawing/2014/main" id="{7480B9D5-DD77-9D6B-DB7D-B135CD442A1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0" y="1215750"/>
            <a:ext cx="7459500" cy="19111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lnSpc>
                <a:spcPct val="150000"/>
              </a:lnSpc>
              <a:buNone/>
            </a:pPr>
            <a:r>
              <a:rPr lang="en-US" sz="1600" b="1" dirty="0"/>
              <a:t>Operational Feasibility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/>
              <a:t>Easy to use: Upload images + temperature/humidity data.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Clear dashboard: Shows expiry, freshness, recommendations.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Minimal training needed for staff</a:t>
            </a:r>
            <a:endParaRPr lang="en-US" sz="1600" dirty="0">
              <a:effectLst/>
            </a:endParaRPr>
          </a:p>
        </p:txBody>
      </p:sp>
      <p:sp>
        <p:nvSpPr>
          <p:cNvPr id="431" name="Google Shape;431;p48">
            <a:extLst>
              <a:ext uri="{FF2B5EF4-FFF2-40B4-BE49-F238E27FC236}">
                <a16:creationId xmlns:a16="http://schemas.microsoft.com/office/drawing/2014/main" id="{FFFCBCE8-2493-C9DB-2D32-7EC0F9D9DA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52688"/>
            <a:ext cx="77040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Feasibility Analysis </a:t>
            </a:r>
            <a:endParaRPr dirty="0"/>
          </a:p>
        </p:txBody>
      </p:sp>
      <p:sp>
        <p:nvSpPr>
          <p:cNvPr id="434" name="Google Shape;434;p48">
            <a:extLst>
              <a:ext uri="{FF2B5EF4-FFF2-40B4-BE49-F238E27FC236}">
                <a16:creationId xmlns:a16="http://schemas.microsoft.com/office/drawing/2014/main" id="{97718783-4DC6-5C41-80E6-50000844703E}"/>
              </a:ext>
            </a:extLst>
          </p:cNvPr>
          <p:cNvSpPr/>
          <p:nvPr/>
        </p:nvSpPr>
        <p:spPr>
          <a:xfrm>
            <a:off x="6633050" y="2347588"/>
            <a:ext cx="1087800" cy="7698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</p:spTree>
    <p:extLst>
      <p:ext uri="{BB962C8B-B14F-4D97-AF65-F5344CB8AC3E}">
        <p14:creationId xmlns:p14="http://schemas.microsoft.com/office/powerpoint/2010/main" val="4497794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81A7F16E-75C9-90BC-2967-7C637BF5E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>
            <a:extLst>
              <a:ext uri="{FF2B5EF4-FFF2-40B4-BE49-F238E27FC236}">
                <a16:creationId xmlns:a16="http://schemas.microsoft.com/office/drawing/2014/main" id="{FB269650-02F6-D1E8-9280-94A13EC3A8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35036" y="2232350"/>
            <a:ext cx="6408963" cy="1912500"/>
          </a:xfrm>
          <a:prstGeom prst="rect">
            <a:avLst/>
          </a:prstGeom>
        </p:spPr>
        <p:txBody>
          <a:bodyPr spcFirstLastPara="1" wrap="square" lIns="91425" tIns="91425" rIns="731500" bIns="91425" anchor="ctr" anchorCtr="0">
            <a:noAutofit/>
          </a:bodyPr>
          <a:lstStyle/>
          <a:p>
            <a:pPr marL="0" lvl="0" indent="0"/>
            <a:r>
              <a:rPr lang="en-US" dirty="0"/>
              <a:t>Project Description</a:t>
            </a:r>
          </a:p>
        </p:txBody>
      </p:sp>
      <p:sp>
        <p:nvSpPr>
          <p:cNvPr id="183" name="Google Shape;183;p32">
            <a:extLst>
              <a:ext uri="{FF2B5EF4-FFF2-40B4-BE49-F238E27FC236}">
                <a16:creationId xmlns:a16="http://schemas.microsoft.com/office/drawing/2014/main" id="{49385B13-91A2-CA48-5628-ACCBEC2490E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735036" y="1085057"/>
            <a:ext cx="1642200" cy="97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154272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>
          <a:extLst>
            <a:ext uri="{FF2B5EF4-FFF2-40B4-BE49-F238E27FC236}">
              <a16:creationId xmlns:a16="http://schemas.microsoft.com/office/drawing/2014/main" id="{3D27D414-951A-2F62-B99F-A5A055F9A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6" name="Google Shape;426;p48">
            <a:extLst>
              <a:ext uri="{FF2B5EF4-FFF2-40B4-BE49-F238E27FC236}">
                <a16:creationId xmlns:a16="http://schemas.microsoft.com/office/drawing/2014/main" id="{42FA9A84-8A04-CE32-DC64-51001656E849}"/>
              </a:ext>
            </a:extLst>
          </p:cNvPr>
          <p:cNvGrpSpPr/>
          <p:nvPr/>
        </p:nvGrpSpPr>
        <p:grpSpPr>
          <a:xfrm>
            <a:off x="4376750" y="8250"/>
            <a:ext cx="4767250" cy="6062525"/>
            <a:chOff x="4376750" y="8250"/>
            <a:chExt cx="4767250" cy="6062525"/>
          </a:xfrm>
        </p:grpSpPr>
        <p:sp>
          <p:nvSpPr>
            <p:cNvPr id="427" name="Google Shape;427;p48">
              <a:extLst>
                <a:ext uri="{FF2B5EF4-FFF2-40B4-BE49-F238E27FC236}">
                  <a16:creationId xmlns:a16="http://schemas.microsoft.com/office/drawing/2014/main" id="{DC8878D0-4D47-3196-B64B-C88781F23138}"/>
                </a:ext>
              </a:extLst>
            </p:cNvPr>
            <p:cNvSpPr/>
            <p:nvPr/>
          </p:nvSpPr>
          <p:spPr>
            <a:xfrm>
              <a:off x="4376750" y="3025100"/>
              <a:ext cx="4170900" cy="964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428" name="Google Shape;428;p48">
              <a:extLst>
                <a:ext uri="{FF2B5EF4-FFF2-40B4-BE49-F238E27FC236}">
                  <a16:creationId xmlns:a16="http://schemas.microsoft.com/office/drawing/2014/main" id="{14ED30A7-4FEC-3B48-943B-841BAFFFBCD0}"/>
                </a:ext>
              </a:extLst>
            </p:cNvPr>
            <p:cNvSpPr/>
            <p:nvPr/>
          </p:nvSpPr>
          <p:spPr>
            <a:xfrm rot="5400000">
              <a:off x="6098250" y="2089500"/>
              <a:ext cx="5127000" cy="964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429" name="Google Shape;429;p48">
              <a:extLst>
                <a:ext uri="{FF2B5EF4-FFF2-40B4-BE49-F238E27FC236}">
                  <a16:creationId xmlns:a16="http://schemas.microsoft.com/office/drawing/2014/main" id="{93C60907-89A1-F1DF-89F6-FBE8D405EC93}"/>
                </a:ext>
              </a:extLst>
            </p:cNvPr>
            <p:cNvSpPr/>
            <p:nvPr/>
          </p:nvSpPr>
          <p:spPr>
            <a:xfrm rot="5400000">
              <a:off x="4233350" y="3773075"/>
              <a:ext cx="3630900" cy="964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sp>
        <p:nvSpPr>
          <p:cNvPr id="430" name="Google Shape;430;p48">
            <a:extLst>
              <a:ext uri="{FF2B5EF4-FFF2-40B4-BE49-F238E27FC236}">
                <a16:creationId xmlns:a16="http://schemas.microsoft.com/office/drawing/2014/main" id="{665EB556-FBC5-EB68-D5B9-197465A3BAC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0" y="1070089"/>
            <a:ext cx="7459500" cy="39085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lnSpc>
                <a:spcPct val="150000"/>
              </a:lnSpc>
              <a:buNone/>
            </a:pPr>
            <a:r>
              <a:rPr lang="en-US" sz="1600" b="1" dirty="0"/>
              <a:t>Purpose</a:t>
            </a:r>
            <a:r>
              <a:rPr lang="en-US" sz="1400" b="1" dirty="0"/>
              <a:t>: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/>
              <a:t>Predicts fruit freshness and remaining shelf life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Uses fruit images + temperature &amp; humidity data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Helps reduce food waste, improve food safety, and manage stock for vendors</a:t>
            </a:r>
          </a:p>
          <a:p>
            <a:pPr marL="152400" indent="0">
              <a:lnSpc>
                <a:spcPct val="150000"/>
              </a:lnSpc>
              <a:buNone/>
            </a:pPr>
            <a:r>
              <a:rPr lang="en-US" sz="1600" b="1" dirty="0"/>
              <a:t>High-Level Functions: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b="1" dirty="0"/>
              <a:t>Image Capture &amp; Labeling</a:t>
            </a:r>
            <a:endParaRPr lang="en-US" sz="1400" dirty="0"/>
          </a:p>
          <a:p>
            <a:pPr lvl="1">
              <a:lnSpc>
                <a:spcPct val="150000"/>
              </a:lnSpc>
            </a:pPr>
            <a:r>
              <a:rPr lang="en-US" sz="1400" dirty="0"/>
              <a:t>Take fruit images using smartphone/camera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Label as Fresh or Expiring Soon based on color, wrinkles, spots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Environmental Data Integration</a:t>
            </a:r>
            <a:endParaRPr lang="en-US" sz="1400" dirty="0"/>
          </a:p>
          <a:p>
            <a:pPr lvl="1">
              <a:lnSpc>
                <a:spcPct val="150000"/>
              </a:lnSpc>
            </a:pPr>
            <a:r>
              <a:rPr lang="en-US" sz="1400" dirty="0"/>
              <a:t>Record temperature (°C) &amp; humidity (%) for each fruit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AI learns how environment affects spoilage</a:t>
            </a:r>
          </a:p>
        </p:txBody>
      </p:sp>
      <p:sp>
        <p:nvSpPr>
          <p:cNvPr id="431" name="Google Shape;431;p48">
            <a:extLst>
              <a:ext uri="{FF2B5EF4-FFF2-40B4-BE49-F238E27FC236}">
                <a16:creationId xmlns:a16="http://schemas.microsoft.com/office/drawing/2014/main" id="{D80154A2-7381-0428-19E3-046E07EB82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64857"/>
            <a:ext cx="8105593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br>
              <a:rPr lang="en-US" sz="1800" dirty="0"/>
            </a:br>
            <a:r>
              <a:rPr lang="en-US" sz="1800" dirty="0"/>
              <a:t>Project Description- AI-Based Fruit Expiry Prediction System</a:t>
            </a:r>
            <a:br>
              <a:rPr lang="en-US" sz="1800" dirty="0"/>
            </a:br>
            <a:endParaRPr lang="en-US" sz="1800" dirty="0"/>
          </a:p>
        </p:txBody>
      </p:sp>
      <p:sp>
        <p:nvSpPr>
          <p:cNvPr id="434" name="Google Shape;434;p48">
            <a:extLst>
              <a:ext uri="{FF2B5EF4-FFF2-40B4-BE49-F238E27FC236}">
                <a16:creationId xmlns:a16="http://schemas.microsoft.com/office/drawing/2014/main" id="{B130BB2B-778D-8EFB-D2A8-5ADC0DB18E42}"/>
              </a:ext>
            </a:extLst>
          </p:cNvPr>
          <p:cNvSpPr/>
          <p:nvPr/>
        </p:nvSpPr>
        <p:spPr>
          <a:xfrm>
            <a:off x="7275775" y="2351600"/>
            <a:ext cx="1087800" cy="7698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</p:spTree>
    <p:extLst>
      <p:ext uri="{BB962C8B-B14F-4D97-AF65-F5344CB8AC3E}">
        <p14:creationId xmlns:p14="http://schemas.microsoft.com/office/powerpoint/2010/main" val="5660473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>
          <a:extLst>
            <a:ext uri="{FF2B5EF4-FFF2-40B4-BE49-F238E27FC236}">
              <a16:creationId xmlns:a16="http://schemas.microsoft.com/office/drawing/2014/main" id="{08176395-43E8-2512-2CC1-28A8E3FB0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6" name="Google Shape;426;p48">
            <a:extLst>
              <a:ext uri="{FF2B5EF4-FFF2-40B4-BE49-F238E27FC236}">
                <a16:creationId xmlns:a16="http://schemas.microsoft.com/office/drawing/2014/main" id="{3DFDE1B2-4717-9403-FC5A-C7BE1DB379EA}"/>
              </a:ext>
            </a:extLst>
          </p:cNvPr>
          <p:cNvGrpSpPr/>
          <p:nvPr/>
        </p:nvGrpSpPr>
        <p:grpSpPr>
          <a:xfrm>
            <a:off x="4376750" y="8250"/>
            <a:ext cx="4767250" cy="6062525"/>
            <a:chOff x="4376750" y="8250"/>
            <a:chExt cx="4767250" cy="6062525"/>
          </a:xfrm>
        </p:grpSpPr>
        <p:sp>
          <p:nvSpPr>
            <p:cNvPr id="427" name="Google Shape;427;p48">
              <a:extLst>
                <a:ext uri="{FF2B5EF4-FFF2-40B4-BE49-F238E27FC236}">
                  <a16:creationId xmlns:a16="http://schemas.microsoft.com/office/drawing/2014/main" id="{9EF9D7F1-B5ED-3ADC-46EF-00A1A83FACA5}"/>
                </a:ext>
              </a:extLst>
            </p:cNvPr>
            <p:cNvSpPr/>
            <p:nvPr/>
          </p:nvSpPr>
          <p:spPr>
            <a:xfrm>
              <a:off x="4376750" y="3025100"/>
              <a:ext cx="4170900" cy="964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428" name="Google Shape;428;p48">
              <a:extLst>
                <a:ext uri="{FF2B5EF4-FFF2-40B4-BE49-F238E27FC236}">
                  <a16:creationId xmlns:a16="http://schemas.microsoft.com/office/drawing/2014/main" id="{418B8392-274F-D9AA-EA13-537235A56559}"/>
                </a:ext>
              </a:extLst>
            </p:cNvPr>
            <p:cNvSpPr/>
            <p:nvPr/>
          </p:nvSpPr>
          <p:spPr>
            <a:xfrm rot="5400000">
              <a:off x="6098250" y="2089500"/>
              <a:ext cx="5127000" cy="964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429" name="Google Shape;429;p48">
              <a:extLst>
                <a:ext uri="{FF2B5EF4-FFF2-40B4-BE49-F238E27FC236}">
                  <a16:creationId xmlns:a16="http://schemas.microsoft.com/office/drawing/2014/main" id="{F222051E-CC0A-B2D2-3081-2FB53BB53E64}"/>
                </a:ext>
              </a:extLst>
            </p:cNvPr>
            <p:cNvSpPr/>
            <p:nvPr/>
          </p:nvSpPr>
          <p:spPr>
            <a:xfrm rot="5400000">
              <a:off x="4233350" y="3773075"/>
              <a:ext cx="3630900" cy="964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sp>
        <p:nvSpPr>
          <p:cNvPr id="430" name="Google Shape;430;p48">
            <a:extLst>
              <a:ext uri="{FF2B5EF4-FFF2-40B4-BE49-F238E27FC236}">
                <a16:creationId xmlns:a16="http://schemas.microsoft.com/office/drawing/2014/main" id="{458104A8-0861-F81D-B346-92794467CA8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0" y="1215750"/>
            <a:ext cx="7459500" cy="36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lnSpc>
                <a:spcPct val="150000"/>
              </a:lnSpc>
              <a:buNone/>
            </a:pPr>
            <a:r>
              <a:rPr lang="en-US" sz="1600" b="1" dirty="0"/>
              <a:t>Technical Feasibility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Uses TensorFlow for AI model &amp; OpenCV for image processing.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Works on laptop/PC with GPU and smartphone/camera.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Backend: Python (Flask/Django), Frontend: React.js, Database: MySQL/Firebase</a:t>
            </a:r>
          </a:p>
          <a:p>
            <a:pPr marL="152400" indent="0">
              <a:lnSpc>
                <a:spcPct val="150000"/>
              </a:lnSpc>
              <a:buNone/>
            </a:pPr>
            <a:endParaRPr lang="en-US" sz="1400" dirty="0"/>
          </a:p>
          <a:p>
            <a:pPr marL="152400" indent="0">
              <a:lnSpc>
                <a:spcPct val="150000"/>
              </a:lnSpc>
              <a:buNone/>
            </a:pPr>
            <a:r>
              <a:rPr lang="en-US" sz="1600" b="1" dirty="0"/>
              <a:t>Economic Feasibility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Low-cost setup: Free GPU platforms (Google </a:t>
            </a:r>
            <a:r>
              <a:rPr lang="en-US" sz="1400" dirty="0" err="1"/>
              <a:t>Colab</a:t>
            </a:r>
            <a:r>
              <a:rPr lang="en-US" sz="1400" dirty="0"/>
              <a:t>, Kaggle).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Local data collection: Fruit shops → no expensive datasets.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Saves money: Reduces fruit waste for vendors/restaurants</a:t>
            </a:r>
          </a:p>
        </p:txBody>
      </p:sp>
      <p:sp>
        <p:nvSpPr>
          <p:cNvPr id="431" name="Google Shape;431;p48">
            <a:extLst>
              <a:ext uri="{FF2B5EF4-FFF2-40B4-BE49-F238E27FC236}">
                <a16:creationId xmlns:a16="http://schemas.microsoft.com/office/drawing/2014/main" id="{11966F94-7FCE-BBA6-F514-9B3F7F5DDC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52688"/>
            <a:ext cx="77040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Feasibility Analysis </a:t>
            </a:r>
            <a:endParaRPr dirty="0"/>
          </a:p>
        </p:txBody>
      </p:sp>
      <p:sp>
        <p:nvSpPr>
          <p:cNvPr id="434" name="Google Shape;434;p48">
            <a:extLst>
              <a:ext uri="{FF2B5EF4-FFF2-40B4-BE49-F238E27FC236}">
                <a16:creationId xmlns:a16="http://schemas.microsoft.com/office/drawing/2014/main" id="{C4687819-8BE7-7D31-5214-3702C7682DCB}"/>
              </a:ext>
            </a:extLst>
          </p:cNvPr>
          <p:cNvSpPr/>
          <p:nvPr/>
        </p:nvSpPr>
        <p:spPr>
          <a:xfrm>
            <a:off x="7275775" y="2351600"/>
            <a:ext cx="1087800" cy="7698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</p:spTree>
    <p:extLst>
      <p:ext uri="{BB962C8B-B14F-4D97-AF65-F5344CB8AC3E}">
        <p14:creationId xmlns:p14="http://schemas.microsoft.com/office/powerpoint/2010/main" val="28537018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>
          <a:extLst>
            <a:ext uri="{FF2B5EF4-FFF2-40B4-BE49-F238E27FC236}">
              <a16:creationId xmlns:a16="http://schemas.microsoft.com/office/drawing/2014/main" id="{3101D7A1-75B3-AA88-3FD1-33BFB9E1B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6" name="Google Shape;426;p48">
            <a:extLst>
              <a:ext uri="{FF2B5EF4-FFF2-40B4-BE49-F238E27FC236}">
                <a16:creationId xmlns:a16="http://schemas.microsoft.com/office/drawing/2014/main" id="{3DB74C62-6E96-8168-5624-2275EBBEA6C2}"/>
              </a:ext>
            </a:extLst>
          </p:cNvPr>
          <p:cNvGrpSpPr/>
          <p:nvPr/>
        </p:nvGrpSpPr>
        <p:grpSpPr>
          <a:xfrm>
            <a:off x="4376750" y="8250"/>
            <a:ext cx="4767250" cy="6062525"/>
            <a:chOff x="4376750" y="8250"/>
            <a:chExt cx="4767250" cy="6062525"/>
          </a:xfrm>
        </p:grpSpPr>
        <p:sp>
          <p:nvSpPr>
            <p:cNvPr id="427" name="Google Shape;427;p48">
              <a:extLst>
                <a:ext uri="{FF2B5EF4-FFF2-40B4-BE49-F238E27FC236}">
                  <a16:creationId xmlns:a16="http://schemas.microsoft.com/office/drawing/2014/main" id="{5D27D23F-9342-49FB-B8D1-C78E18D05F45}"/>
                </a:ext>
              </a:extLst>
            </p:cNvPr>
            <p:cNvSpPr/>
            <p:nvPr/>
          </p:nvSpPr>
          <p:spPr>
            <a:xfrm>
              <a:off x="4376750" y="3025100"/>
              <a:ext cx="4170900" cy="964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428" name="Google Shape;428;p48">
              <a:extLst>
                <a:ext uri="{FF2B5EF4-FFF2-40B4-BE49-F238E27FC236}">
                  <a16:creationId xmlns:a16="http://schemas.microsoft.com/office/drawing/2014/main" id="{8E9E4FF8-0454-75C4-AAA2-C7E8F0755D57}"/>
                </a:ext>
              </a:extLst>
            </p:cNvPr>
            <p:cNvSpPr/>
            <p:nvPr/>
          </p:nvSpPr>
          <p:spPr>
            <a:xfrm rot="5400000">
              <a:off x="6098250" y="2089500"/>
              <a:ext cx="5127000" cy="964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429" name="Google Shape;429;p48">
              <a:extLst>
                <a:ext uri="{FF2B5EF4-FFF2-40B4-BE49-F238E27FC236}">
                  <a16:creationId xmlns:a16="http://schemas.microsoft.com/office/drawing/2014/main" id="{717F9B8B-60E2-136E-0463-D4F7DEB8DB70}"/>
                </a:ext>
              </a:extLst>
            </p:cNvPr>
            <p:cNvSpPr/>
            <p:nvPr/>
          </p:nvSpPr>
          <p:spPr>
            <a:xfrm rot="5400000">
              <a:off x="4233350" y="3773075"/>
              <a:ext cx="3630900" cy="964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sp>
        <p:nvSpPr>
          <p:cNvPr id="430" name="Google Shape;430;p48">
            <a:extLst>
              <a:ext uri="{FF2B5EF4-FFF2-40B4-BE49-F238E27FC236}">
                <a16:creationId xmlns:a16="http://schemas.microsoft.com/office/drawing/2014/main" id="{F64D1245-CAB8-089D-CFA2-214D8250FB8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0" y="1153900"/>
            <a:ext cx="7459500" cy="39085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lnSpc>
                <a:spcPct val="150000"/>
              </a:lnSpc>
              <a:buNone/>
            </a:pPr>
            <a:r>
              <a:rPr lang="en-US" sz="1600" b="1" dirty="0"/>
              <a:t>Model Training &amp; Optimization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/>
              <a:t>CNN using TensorFlow &amp; </a:t>
            </a:r>
            <a:r>
              <a:rPr lang="en-US" sz="1400" dirty="0" err="1"/>
              <a:t>Keras</a:t>
            </a:r>
            <a:r>
              <a:rPr lang="en-US" sz="1400" dirty="0"/>
              <a:t> identifies spoilage patterns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Processes images under 5 seconds for fast predictions</a:t>
            </a:r>
          </a:p>
          <a:p>
            <a:pPr marL="152400" indent="0">
              <a:lnSpc>
                <a:spcPct val="150000"/>
              </a:lnSpc>
              <a:buNone/>
            </a:pPr>
            <a:r>
              <a:rPr lang="en-US" sz="1600" b="1" dirty="0"/>
              <a:t>Real-Time Dashboard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/>
              <a:t>Upload images + environmental data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Shows fruit condition, remaining days, and recommendations</a:t>
            </a:r>
          </a:p>
          <a:p>
            <a:pPr marL="152400" indent="0">
              <a:lnSpc>
                <a:spcPct val="150000"/>
              </a:lnSpc>
              <a:buNone/>
            </a:pPr>
            <a:r>
              <a:rPr lang="en-US" sz="1600" b="1" dirty="0"/>
              <a:t>Use Case Example: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/>
              <a:t>Apples → Expiring Soon (1.8 days left)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Bananas → Fresh (3.5 days left)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Mangoes → Expired (0 days left)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Helps prioritize sales, reduce waste, and maximize profit</a:t>
            </a:r>
          </a:p>
        </p:txBody>
      </p:sp>
      <p:sp>
        <p:nvSpPr>
          <p:cNvPr id="431" name="Google Shape;431;p48">
            <a:extLst>
              <a:ext uri="{FF2B5EF4-FFF2-40B4-BE49-F238E27FC236}">
                <a16:creationId xmlns:a16="http://schemas.microsoft.com/office/drawing/2014/main" id="{FC26A494-1D68-1131-0B46-B026BB358C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64857"/>
            <a:ext cx="8105593" cy="90121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dirty="0"/>
              <a:t>Model &amp; Dashboard</a:t>
            </a:r>
          </a:p>
        </p:txBody>
      </p:sp>
      <p:sp>
        <p:nvSpPr>
          <p:cNvPr id="434" name="Google Shape;434;p48">
            <a:extLst>
              <a:ext uri="{FF2B5EF4-FFF2-40B4-BE49-F238E27FC236}">
                <a16:creationId xmlns:a16="http://schemas.microsoft.com/office/drawing/2014/main" id="{39BF5CB4-ECD3-7CCE-FA3F-9850B1A499A1}"/>
              </a:ext>
            </a:extLst>
          </p:cNvPr>
          <p:cNvSpPr/>
          <p:nvPr/>
        </p:nvSpPr>
        <p:spPr>
          <a:xfrm>
            <a:off x="7275775" y="2351600"/>
            <a:ext cx="1087800" cy="7698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</p:spTree>
    <p:extLst>
      <p:ext uri="{BB962C8B-B14F-4D97-AF65-F5344CB8AC3E}">
        <p14:creationId xmlns:p14="http://schemas.microsoft.com/office/powerpoint/2010/main" val="35922243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4F19052D-ACA5-BA5E-2B63-974B1E40A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>
            <a:extLst>
              <a:ext uri="{FF2B5EF4-FFF2-40B4-BE49-F238E27FC236}">
                <a16:creationId xmlns:a16="http://schemas.microsoft.com/office/drawing/2014/main" id="{9EA918EF-F1FA-2491-279F-EAEB527933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35036" y="2232350"/>
            <a:ext cx="6408963" cy="1912500"/>
          </a:xfrm>
          <a:prstGeom prst="rect">
            <a:avLst/>
          </a:prstGeom>
        </p:spPr>
        <p:txBody>
          <a:bodyPr spcFirstLastPara="1" wrap="square" lIns="91425" tIns="91425" rIns="731500" bIns="91425" anchor="ctr" anchorCtr="0">
            <a:noAutofit/>
          </a:bodyPr>
          <a:lstStyle/>
          <a:p>
            <a:pPr marL="0" lvl="0" indent="0"/>
            <a:r>
              <a:rPr lang="en-US" dirty="0"/>
              <a:t>Deliverables</a:t>
            </a:r>
          </a:p>
        </p:txBody>
      </p:sp>
      <p:sp>
        <p:nvSpPr>
          <p:cNvPr id="183" name="Google Shape;183;p32">
            <a:extLst>
              <a:ext uri="{FF2B5EF4-FFF2-40B4-BE49-F238E27FC236}">
                <a16:creationId xmlns:a16="http://schemas.microsoft.com/office/drawing/2014/main" id="{9449065E-2E93-BD78-FCF0-1D3EB3E06A8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735036" y="1085057"/>
            <a:ext cx="1642200" cy="97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08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792872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6"/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Project Deliverables (AI Model &amp; Dataset)</a:t>
            </a:r>
            <a:endParaRPr dirty="0"/>
          </a:p>
        </p:txBody>
      </p:sp>
      <p:sp>
        <p:nvSpPr>
          <p:cNvPr id="246" name="Google Shape;246;p36"/>
          <p:cNvSpPr txBox="1">
            <a:spLocks noGrp="1"/>
          </p:cNvSpPr>
          <p:nvPr>
            <p:ph type="subTitle" idx="1"/>
          </p:nvPr>
        </p:nvSpPr>
        <p:spPr>
          <a:xfrm>
            <a:off x="720000" y="1710160"/>
            <a:ext cx="2366100" cy="31394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CNN-based deep learning model.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Predicts fruit freshness and expiry categories.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Uses RGB images + environmental data</a:t>
            </a:r>
            <a:endParaRPr sz="1400" dirty="0"/>
          </a:p>
        </p:txBody>
      </p:sp>
      <p:sp>
        <p:nvSpPr>
          <p:cNvPr id="247" name="Google Shape;247;p36"/>
          <p:cNvSpPr txBox="1">
            <a:spLocks noGrp="1"/>
          </p:cNvSpPr>
          <p:nvPr>
            <p:ph type="subTitle" idx="2"/>
          </p:nvPr>
        </p:nvSpPr>
        <p:spPr>
          <a:xfrm>
            <a:off x="3152396" y="1949600"/>
            <a:ext cx="2734054" cy="29337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Collected from local fruit shops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Includes apples, bananas, mangoes, oranges, etc.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Covers various freshness levels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Paired with temperature &amp; humidity readings</a:t>
            </a:r>
            <a:endParaRPr sz="1400" dirty="0"/>
          </a:p>
        </p:txBody>
      </p:sp>
      <p:sp>
        <p:nvSpPr>
          <p:cNvPr id="250" name="Google Shape;250;p36"/>
          <p:cNvSpPr txBox="1">
            <a:spLocks noGrp="1"/>
          </p:cNvSpPr>
          <p:nvPr>
            <p:ph type="subTitle" idx="7"/>
          </p:nvPr>
        </p:nvSpPr>
        <p:spPr>
          <a:xfrm>
            <a:off x="720000" y="1336275"/>
            <a:ext cx="2472236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1. Trained AI Model</a:t>
            </a:r>
            <a:endParaRPr dirty="0"/>
          </a:p>
        </p:txBody>
      </p:sp>
      <p:sp>
        <p:nvSpPr>
          <p:cNvPr id="251" name="Google Shape;251;p36"/>
          <p:cNvSpPr txBox="1">
            <a:spLocks noGrp="1"/>
          </p:cNvSpPr>
          <p:nvPr>
            <p:ph type="subTitle" idx="8"/>
          </p:nvPr>
        </p:nvSpPr>
        <p:spPr>
          <a:xfrm>
            <a:off x="3336373" y="1264478"/>
            <a:ext cx="2366099" cy="70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2. Dataset of 500+ Fruit Images</a:t>
            </a:r>
            <a:endParaRPr dirty="0"/>
          </a:p>
        </p:txBody>
      </p:sp>
      <p:sp>
        <p:nvSpPr>
          <p:cNvPr id="252" name="Google Shape;252;p36"/>
          <p:cNvSpPr txBox="1">
            <a:spLocks noGrp="1"/>
          </p:cNvSpPr>
          <p:nvPr>
            <p:ph type="subTitle" idx="9"/>
          </p:nvPr>
        </p:nvSpPr>
        <p:spPr>
          <a:xfrm>
            <a:off x="6190499" y="1336275"/>
            <a:ext cx="2520793" cy="63020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3. Integrated Environmental Data</a:t>
            </a:r>
            <a:endParaRPr dirty="0"/>
          </a:p>
        </p:txBody>
      </p:sp>
      <p:sp>
        <p:nvSpPr>
          <p:cNvPr id="253" name="Google Shape;253;p36"/>
          <p:cNvSpPr txBox="1">
            <a:spLocks noGrp="1"/>
          </p:cNvSpPr>
          <p:nvPr>
            <p:ph type="subTitle" idx="5"/>
          </p:nvPr>
        </p:nvSpPr>
        <p:spPr>
          <a:xfrm>
            <a:off x="6190499" y="2038274"/>
            <a:ext cx="2366099" cy="27071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Each image linked with temperature &amp; humidity.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Supports multimodal learning → better prediction accuracy</a:t>
            </a:r>
            <a:endParaRPr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>
          <a:extLst>
            <a:ext uri="{FF2B5EF4-FFF2-40B4-BE49-F238E27FC236}">
              <a16:creationId xmlns:a16="http://schemas.microsoft.com/office/drawing/2014/main" id="{7BA7A67D-8860-32DA-FFCD-E4E98D3C4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6" name="Google Shape;426;p48">
            <a:extLst>
              <a:ext uri="{FF2B5EF4-FFF2-40B4-BE49-F238E27FC236}">
                <a16:creationId xmlns:a16="http://schemas.microsoft.com/office/drawing/2014/main" id="{20159A78-ABFD-25E1-D8E9-8E344BB9B183}"/>
              </a:ext>
            </a:extLst>
          </p:cNvPr>
          <p:cNvGrpSpPr/>
          <p:nvPr/>
        </p:nvGrpSpPr>
        <p:grpSpPr>
          <a:xfrm>
            <a:off x="4376750" y="8250"/>
            <a:ext cx="4767250" cy="6062525"/>
            <a:chOff x="4376750" y="8250"/>
            <a:chExt cx="4767250" cy="6062525"/>
          </a:xfrm>
        </p:grpSpPr>
        <p:sp>
          <p:nvSpPr>
            <p:cNvPr id="427" name="Google Shape;427;p48">
              <a:extLst>
                <a:ext uri="{FF2B5EF4-FFF2-40B4-BE49-F238E27FC236}">
                  <a16:creationId xmlns:a16="http://schemas.microsoft.com/office/drawing/2014/main" id="{168B39D2-0611-146D-936E-CA7448B4717C}"/>
                </a:ext>
              </a:extLst>
            </p:cNvPr>
            <p:cNvSpPr/>
            <p:nvPr/>
          </p:nvSpPr>
          <p:spPr>
            <a:xfrm>
              <a:off x="4376750" y="3025100"/>
              <a:ext cx="4170900" cy="964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428" name="Google Shape;428;p48">
              <a:extLst>
                <a:ext uri="{FF2B5EF4-FFF2-40B4-BE49-F238E27FC236}">
                  <a16:creationId xmlns:a16="http://schemas.microsoft.com/office/drawing/2014/main" id="{D607D828-F115-C2A2-989E-87A1CCAEAD0F}"/>
                </a:ext>
              </a:extLst>
            </p:cNvPr>
            <p:cNvSpPr/>
            <p:nvPr/>
          </p:nvSpPr>
          <p:spPr>
            <a:xfrm rot="5400000">
              <a:off x="6098250" y="2089500"/>
              <a:ext cx="5127000" cy="964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429" name="Google Shape;429;p48">
              <a:extLst>
                <a:ext uri="{FF2B5EF4-FFF2-40B4-BE49-F238E27FC236}">
                  <a16:creationId xmlns:a16="http://schemas.microsoft.com/office/drawing/2014/main" id="{3EF31527-E2A1-A56E-0D4A-7B503549594B}"/>
                </a:ext>
              </a:extLst>
            </p:cNvPr>
            <p:cNvSpPr/>
            <p:nvPr/>
          </p:nvSpPr>
          <p:spPr>
            <a:xfrm rot="5400000">
              <a:off x="4233350" y="3773075"/>
              <a:ext cx="3630900" cy="964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sp>
        <p:nvSpPr>
          <p:cNvPr id="430" name="Google Shape;430;p48">
            <a:extLst>
              <a:ext uri="{FF2B5EF4-FFF2-40B4-BE49-F238E27FC236}">
                <a16:creationId xmlns:a16="http://schemas.microsoft.com/office/drawing/2014/main" id="{315AF1E1-8AA8-FBFD-1800-4A1B5D294EB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0" y="1153900"/>
            <a:ext cx="7459500" cy="39085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 b="1" dirty="0"/>
              <a:t>4. Web-Based Dashboard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Responsive &amp; interactive web application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Users can upload images and view predictions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Shows visual charts and freshness summaries</a:t>
            </a:r>
          </a:p>
          <a:p>
            <a:pPr marL="152400" indent="0">
              <a:lnSpc>
                <a:spcPct val="150000"/>
              </a:lnSpc>
              <a:buNone/>
            </a:pPr>
            <a:endParaRPr lang="en-US" sz="1400" dirty="0"/>
          </a:p>
          <a:p>
            <a:pPr>
              <a:lnSpc>
                <a:spcPct val="150000"/>
              </a:lnSpc>
              <a:buNone/>
            </a:pPr>
            <a:r>
              <a:rPr lang="en-US" sz="1600" b="1" dirty="0"/>
              <a:t>5. Comprehensive Documentation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Details data collection, model architecture, evaluation metrics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Includes results &amp; usage guidelines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Supports reproducibility and future improvements</a:t>
            </a:r>
          </a:p>
        </p:txBody>
      </p:sp>
      <p:sp>
        <p:nvSpPr>
          <p:cNvPr id="431" name="Google Shape;431;p48">
            <a:extLst>
              <a:ext uri="{FF2B5EF4-FFF2-40B4-BE49-F238E27FC236}">
                <a16:creationId xmlns:a16="http://schemas.microsoft.com/office/drawing/2014/main" id="{FB967459-8CEA-2361-13AE-1AEAD075BF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64857"/>
            <a:ext cx="8105593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dirty="0"/>
              <a:t>Dashboard &amp; Documentation</a:t>
            </a:r>
          </a:p>
        </p:txBody>
      </p:sp>
      <p:sp>
        <p:nvSpPr>
          <p:cNvPr id="434" name="Google Shape;434;p48">
            <a:extLst>
              <a:ext uri="{FF2B5EF4-FFF2-40B4-BE49-F238E27FC236}">
                <a16:creationId xmlns:a16="http://schemas.microsoft.com/office/drawing/2014/main" id="{6F0A4889-17F2-58C2-D759-982B673E77FE}"/>
              </a:ext>
            </a:extLst>
          </p:cNvPr>
          <p:cNvSpPr/>
          <p:nvPr/>
        </p:nvSpPr>
        <p:spPr>
          <a:xfrm>
            <a:off x="7275775" y="2351600"/>
            <a:ext cx="1087800" cy="7698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</p:spTree>
    <p:extLst>
      <p:ext uri="{BB962C8B-B14F-4D97-AF65-F5344CB8AC3E}">
        <p14:creationId xmlns:p14="http://schemas.microsoft.com/office/powerpoint/2010/main" val="33281338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C6458A6B-C951-137B-B4A6-5D7F338D9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>
            <a:extLst>
              <a:ext uri="{FF2B5EF4-FFF2-40B4-BE49-F238E27FC236}">
                <a16:creationId xmlns:a16="http://schemas.microsoft.com/office/drawing/2014/main" id="{CA953B15-FF5E-7B5F-5056-40EB9D8DCD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35036" y="2232350"/>
            <a:ext cx="6408963" cy="1912500"/>
          </a:xfrm>
          <a:prstGeom prst="rect">
            <a:avLst/>
          </a:prstGeom>
        </p:spPr>
        <p:txBody>
          <a:bodyPr spcFirstLastPara="1" wrap="square" lIns="91425" tIns="91425" rIns="731500" bIns="91425" anchor="ctr" anchorCtr="0">
            <a:noAutofit/>
          </a:bodyPr>
          <a:lstStyle/>
          <a:p>
            <a:pPr marL="0" lvl="0" indent="0"/>
            <a:r>
              <a:rPr lang="en-US" dirty="0"/>
              <a:t>Resources Required </a:t>
            </a:r>
          </a:p>
        </p:txBody>
      </p:sp>
      <p:sp>
        <p:nvSpPr>
          <p:cNvPr id="183" name="Google Shape;183;p32">
            <a:extLst>
              <a:ext uri="{FF2B5EF4-FFF2-40B4-BE49-F238E27FC236}">
                <a16:creationId xmlns:a16="http://schemas.microsoft.com/office/drawing/2014/main" id="{64976C99-8BE0-3E08-5998-08DCF45B6D6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735036" y="1085057"/>
            <a:ext cx="1642200" cy="97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09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291609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>
          <a:extLst>
            <a:ext uri="{FF2B5EF4-FFF2-40B4-BE49-F238E27FC236}">
              <a16:creationId xmlns:a16="http://schemas.microsoft.com/office/drawing/2014/main" id="{B83E2BFD-5337-1B1C-1028-89D41DC1D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6">
            <a:extLst>
              <a:ext uri="{FF2B5EF4-FFF2-40B4-BE49-F238E27FC236}">
                <a16:creationId xmlns:a16="http://schemas.microsoft.com/office/drawing/2014/main" id="{CE95CCE0-3BE3-68DB-9023-6538F9336F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System Requirements (Hardware &amp; Data)</a:t>
            </a:r>
            <a:endParaRPr dirty="0"/>
          </a:p>
        </p:txBody>
      </p:sp>
      <p:graphicFrame>
        <p:nvGraphicFramePr>
          <p:cNvPr id="394" name="Google Shape;394;p46">
            <a:extLst>
              <a:ext uri="{FF2B5EF4-FFF2-40B4-BE49-F238E27FC236}">
                <a16:creationId xmlns:a16="http://schemas.microsoft.com/office/drawing/2014/main" id="{FD619503-726E-54EE-7726-FD4B631460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1785040"/>
              </p:ext>
            </p:extLst>
          </p:nvPr>
        </p:nvGraphicFramePr>
        <p:xfrm>
          <a:off x="719999" y="1276534"/>
          <a:ext cx="3754029" cy="3468915"/>
        </p:xfrm>
        <a:graphic>
          <a:graphicData uri="http://schemas.openxmlformats.org/drawingml/2006/table">
            <a:tbl>
              <a:tblPr>
                <a:noFill/>
                <a:tableStyleId>{25093472-E142-4E47-A3BD-7E14E38A6F57}</a:tableStyleId>
              </a:tblPr>
              <a:tblGrid>
                <a:gridCol w="14413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27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55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Hardware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Purpose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55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Laptop/PC (≥8GB RAM)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Model training &amp; testing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5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Camera/Smartphone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Fruit image capture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2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Thermometer &amp; Hygrometer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Environmental data collection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95" name="Google Shape;395;p46">
            <a:extLst>
              <a:ext uri="{FF2B5EF4-FFF2-40B4-BE49-F238E27FC236}">
                <a16:creationId xmlns:a16="http://schemas.microsoft.com/office/drawing/2014/main" id="{F328CB06-7161-6FE0-A6BD-1A8FCE7B318E}"/>
              </a:ext>
            </a:extLst>
          </p:cNvPr>
          <p:cNvSpPr txBox="1"/>
          <p:nvPr/>
        </p:nvSpPr>
        <p:spPr>
          <a:xfrm>
            <a:off x="4572000" y="1209602"/>
            <a:ext cx="3695999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600" b="1" dirty="0"/>
              <a:t>Data Collection &amp; Storage</a:t>
            </a:r>
          </a:p>
        </p:txBody>
      </p:sp>
      <p:sp>
        <p:nvSpPr>
          <p:cNvPr id="399" name="Google Shape;399;p46">
            <a:extLst>
              <a:ext uri="{FF2B5EF4-FFF2-40B4-BE49-F238E27FC236}">
                <a16:creationId xmlns:a16="http://schemas.microsoft.com/office/drawing/2014/main" id="{4585FC44-A593-8DD2-4899-DD9641FDA92C}"/>
              </a:ext>
            </a:extLst>
          </p:cNvPr>
          <p:cNvSpPr txBox="1"/>
          <p:nvPr/>
        </p:nvSpPr>
        <p:spPr>
          <a:xfrm>
            <a:off x="4571998" y="1899651"/>
            <a:ext cx="3696000" cy="1344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Environmental data recorded manually from fruit shops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Each image paired with temperature &amp; humidity readings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Storage: Local or Cloud (Google Drive, Firebase)</a:t>
            </a:r>
          </a:p>
        </p:txBody>
      </p:sp>
      <p:sp>
        <p:nvSpPr>
          <p:cNvPr id="2" name="Google Shape;395;p46">
            <a:extLst>
              <a:ext uri="{FF2B5EF4-FFF2-40B4-BE49-F238E27FC236}">
                <a16:creationId xmlns:a16="http://schemas.microsoft.com/office/drawing/2014/main" id="{94C38ED8-B089-428D-0C85-D1F935A568DB}"/>
              </a:ext>
            </a:extLst>
          </p:cNvPr>
          <p:cNvSpPr txBox="1"/>
          <p:nvPr/>
        </p:nvSpPr>
        <p:spPr>
          <a:xfrm>
            <a:off x="4571999" y="3533698"/>
            <a:ext cx="3695999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600" b="1" dirty="0"/>
              <a:t>External Collaboration:</a:t>
            </a:r>
            <a:endParaRPr lang="en-US" sz="1600" dirty="0"/>
          </a:p>
        </p:txBody>
      </p:sp>
      <p:sp>
        <p:nvSpPr>
          <p:cNvPr id="3" name="Google Shape;399;p46">
            <a:extLst>
              <a:ext uri="{FF2B5EF4-FFF2-40B4-BE49-F238E27FC236}">
                <a16:creationId xmlns:a16="http://schemas.microsoft.com/office/drawing/2014/main" id="{2014CBBD-4D0E-8049-B2ED-6E6FC7329791}"/>
              </a:ext>
            </a:extLst>
          </p:cNvPr>
          <p:cNvSpPr txBox="1"/>
          <p:nvPr/>
        </p:nvSpPr>
        <p:spPr>
          <a:xfrm>
            <a:off x="4571998" y="3933898"/>
            <a:ext cx="3918858" cy="768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Partnership with </a:t>
            </a:r>
            <a:r>
              <a:rPr lang="en-US" b="1" dirty="0"/>
              <a:t>5 local fruit shops</a:t>
            </a:r>
            <a:r>
              <a:rPr lang="en-US" dirty="0"/>
              <a:t> to collect real-world data</a:t>
            </a:r>
          </a:p>
        </p:txBody>
      </p:sp>
    </p:spTree>
    <p:extLst>
      <p:ext uri="{BB962C8B-B14F-4D97-AF65-F5344CB8AC3E}">
        <p14:creationId xmlns:p14="http://schemas.microsoft.com/office/powerpoint/2010/main" val="101465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>
          <a:extLst>
            <a:ext uri="{FF2B5EF4-FFF2-40B4-BE49-F238E27FC236}">
              <a16:creationId xmlns:a16="http://schemas.microsoft.com/office/drawing/2014/main" id="{7E868707-D0BC-E33C-32E5-EF4CC7D98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6">
            <a:extLst>
              <a:ext uri="{FF2B5EF4-FFF2-40B4-BE49-F238E27FC236}">
                <a16:creationId xmlns:a16="http://schemas.microsoft.com/office/drawing/2014/main" id="{791A3BF9-8BC1-FD1D-6D94-94BB92CA44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Software &amp; Tools</a:t>
            </a:r>
            <a:endParaRPr dirty="0"/>
          </a:p>
        </p:txBody>
      </p:sp>
      <p:graphicFrame>
        <p:nvGraphicFramePr>
          <p:cNvPr id="394" name="Google Shape;394;p46">
            <a:extLst>
              <a:ext uri="{FF2B5EF4-FFF2-40B4-BE49-F238E27FC236}">
                <a16:creationId xmlns:a16="http://schemas.microsoft.com/office/drawing/2014/main" id="{D7E13264-39E5-865B-112C-40F886FD7E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4913139"/>
              </p:ext>
            </p:extLst>
          </p:nvPr>
        </p:nvGraphicFramePr>
        <p:xfrm>
          <a:off x="719999" y="1276535"/>
          <a:ext cx="3852000" cy="3684085"/>
        </p:xfrm>
        <a:graphic>
          <a:graphicData uri="http://schemas.openxmlformats.org/drawingml/2006/table">
            <a:tbl>
              <a:tblPr>
                <a:noFill/>
                <a:tableStyleId>{25093472-E142-4E47-A3BD-7E14E38A6F57}</a:tableStyleId>
              </a:tblPr>
              <a:tblGrid>
                <a:gridCol w="1582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9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Software/Tool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Purpose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Python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Programming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5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TensorFlow / Keras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Deep learning model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OpenCV, Pandas, NumPy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Image &amp; data processing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Flask / Django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Backend &amp; API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4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React.js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Dashboard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5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Jupyter Notebook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Prototyping/testing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8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VS Code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Development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519340"/>
                  </a:ext>
                </a:extLst>
              </a:tr>
              <a:tr h="178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GitHub</a:t>
                      </a:r>
                    </a:p>
                  </a:txBody>
                  <a:tcPr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Version control &amp; collaboration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2829196"/>
                  </a:ext>
                </a:extLst>
              </a:tr>
            </a:tbl>
          </a:graphicData>
        </a:graphic>
      </p:graphicFrame>
      <p:sp>
        <p:nvSpPr>
          <p:cNvPr id="395" name="Google Shape;395;p46">
            <a:extLst>
              <a:ext uri="{FF2B5EF4-FFF2-40B4-BE49-F238E27FC236}">
                <a16:creationId xmlns:a16="http://schemas.microsoft.com/office/drawing/2014/main" id="{84F25340-1E15-1D88-0698-00A8E1649F82}"/>
              </a:ext>
            </a:extLst>
          </p:cNvPr>
          <p:cNvSpPr txBox="1"/>
          <p:nvPr/>
        </p:nvSpPr>
        <p:spPr>
          <a:xfrm>
            <a:off x="4728001" y="1276535"/>
            <a:ext cx="3695999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600" b="1" dirty="0"/>
              <a:t>Development &amp; Collaboration Tools</a:t>
            </a:r>
            <a:endParaRPr lang="en-US" sz="1600" dirty="0"/>
          </a:p>
        </p:txBody>
      </p:sp>
      <p:sp>
        <p:nvSpPr>
          <p:cNvPr id="399" name="Google Shape;399;p46">
            <a:extLst>
              <a:ext uri="{FF2B5EF4-FFF2-40B4-BE49-F238E27FC236}">
                <a16:creationId xmlns:a16="http://schemas.microsoft.com/office/drawing/2014/main" id="{EA3B989D-5A50-EFF8-04F0-E69EE9DF9031}"/>
              </a:ext>
            </a:extLst>
          </p:cNvPr>
          <p:cNvSpPr txBox="1"/>
          <p:nvPr/>
        </p:nvSpPr>
        <p:spPr>
          <a:xfrm>
            <a:off x="4728001" y="1676735"/>
            <a:ext cx="3696000" cy="1600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/>
              <a:t>Jupyter</a:t>
            </a:r>
            <a:r>
              <a:rPr lang="en-US" b="1" dirty="0"/>
              <a:t> Notebook</a:t>
            </a:r>
            <a:r>
              <a:rPr lang="en-US" dirty="0"/>
              <a:t> – prototyping &amp; testing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VS Code</a:t>
            </a:r>
            <a:r>
              <a:rPr lang="en-US" dirty="0"/>
              <a:t> – code development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GitHub</a:t>
            </a:r>
            <a:r>
              <a:rPr lang="en-US" dirty="0"/>
              <a:t> – version control &amp; collaboration</a:t>
            </a:r>
          </a:p>
        </p:txBody>
      </p:sp>
    </p:spTree>
    <p:extLst>
      <p:ext uri="{BB962C8B-B14F-4D97-AF65-F5344CB8AC3E}">
        <p14:creationId xmlns:p14="http://schemas.microsoft.com/office/powerpoint/2010/main" val="19907836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47E50C5C-7B26-B2F7-2879-DC4BB8654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>
            <a:extLst>
              <a:ext uri="{FF2B5EF4-FFF2-40B4-BE49-F238E27FC236}">
                <a16:creationId xmlns:a16="http://schemas.microsoft.com/office/drawing/2014/main" id="{1D42CCC8-70BF-3E9A-C32D-FD0D4AE974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35036" y="2232350"/>
            <a:ext cx="6408963" cy="1912500"/>
          </a:xfrm>
          <a:prstGeom prst="rect">
            <a:avLst/>
          </a:prstGeom>
        </p:spPr>
        <p:txBody>
          <a:bodyPr spcFirstLastPara="1" wrap="square" lIns="91425" tIns="91425" rIns="731500" bIns="91425" anchor="ctr" anchorCtr="0">
            <a:noAutofit/>
          </a:bodyPr>
          <a:lstStyle/>
          <a:p>
            <a:pPr marL="0" lvl="0" indent="0"/>
            <a:r>
              <a:rPr lang="en-US" dirty="0"/>
              <a:t>Expected Output and Outcome </a:t>
            </a:r>
          </a:p>
        </p:txBody>
      </p:sp>
      <p:sp>
        <p:nvSpPr>
          <p:cNvPr id="183" name="Google Shape;183;p32">
            <a:extLst>
              <a:ext uri="{FF2B5EF4-FFF2-40B4-BE49-F238E27FC236}">
                <a16:creationId xmlns:a16="http://schemas.microsoft.com/office/drawing/2014/main" id="{98265DB1-4EAF-BBE4-87D8-852796F2D64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735036" y="1085057"/>
            <a:ext cx="1642200" cy="97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343985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>
          <a:extLst>
            <a:ext uri="{FF2B5EF4-FFF2-40B4-BE49-F238E27FC236}">
              <a16:creationId xmlns:a16="http://schemas.microsoft.com/office/drawing/2014/main" id="{7592B41C-F423-D8EF-1D78-BEDE7B2F9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6" name="Google Shape;426;p48">
            <a:extLst>
              <a:ext uri="{FF2B5EF4-FFF2-40B4-BE49-F238E27FC236}">
                <a16:creationId xmlns:a16="http://schemas.microsoft.com/office/drawing/2014/main" id="{8C590B0C-FF81-690F-6621-CBD9BC25DB15}"/>
              </a:ext>
            </a:extLst>
          </p:cNvPr>
          <p:cNvGrpSpPr/>
          <p:nvPr/>
        </p:nvGrpSpPr>
        <p:grpSpPr>
          <a:xfrm>
            <a:off x="4376750" y="8250"/>
            <a:ext cx="4767250" cy="6062525"/>
            <a:chOff x="4376750" y="8250"/>
            <a:chExt cx="4767250" cy="6062525"/>
          </a:xfrm>
        </p:grpSpPr>
        <p:sp>
          <p:nvSpPr>
            <p:cNvPr id="427" name="Google Shape;427;p48">
              <a:extLst>
                <a:ext uri="{FF2B5EF4-FFF2-40B4-BE49-F238E27FC236}">
                  <a16:creationId xmlns:a16="http://schemas.microsoft.com/office/drawing/2014/main" id="{ADF4AD09-3B90-C9B4-8786-ED4736AC254E}"/>
                </a:ext>
              </a:extLst>
            </p:cNvPr>
            <p:cNvSpPr/>
            <p:nvPr/>
          </p:nvSpPr>
          <p:spPr>
            <a:xfrm>
              <a:off x="4376750" y="3025100"/>
              <a:ext cx="4170900" cy="964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428" name="Google Shape;428;p48">
              <a:extLst>
                <a:ext uri="{FF2B5EF4-FFF2-40B4-BE49-F238E27FC236}">
                  <a16:creationId xmlns:a16="http://schemas.microsoft.com/office/drawing/2014/main" id="{C3733602-BE21-4443-F8D9-4330A32A752C}"/>
                </a:ext>
              </a:extLst>
            </p:cNvPr>
            <p:cNvSpPr/>
            <p:nvPr/>
          </p:nvSpPr>
          <p:spPr>
            <a:xfrm rot="5400000">
              <a:off x="6098250" y="2089500"/>
              <a:ext cx="5127000" cy="964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429" name="Google Shape;429;p48">
              <a:extLst>
                <a:ext uri="{FF2B5EF4-FFF2-40B4-BE49-F238E27FC236}">
                  <a16:creationId xmlns:a16="http://schemas.microsoft.com/office/drawing/2014/main" id="{DA77B558-1227-5B23-B7A9-5C557F9BB4EA}"/>
                </a:ext>
              </a:extLst>
            </p:cNvPr>
            <p:cNvSpPr/>
            <p:nvPr/>
          </p:nvSpPr>
          <p:spPr>
            <a:xfrm rot="5400000">
              <a:off x="4233350" y="3773075"/>
              <a:ext cx="3630900" cy="964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sp>
        <p:nvSpPr>
          <p:cNvPr id="430" name="Google Shape;430;p48">
            <a:extLst>
              <a:ext uri="{FF2B5EF4-FFF2-40B4-BE49-F238E27FC236}">
                <a16:creationId xmlns:a16="http://schemas.microsoft.com/office/drawing/2014/main" id="{D598E1C8-5F43-C731-D5C7-7E208BA825F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0" y="1070089"/>
            <a:ext cx="7459500" cy="39085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 b="1" dirty="0"/>
              <a:t>Expected Output (Tangible Results)</a:t>
            </a:r>
            <a:endParaRPr lang="en-US" sz="16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Trained AI model predicting fruit expiry and remaining freshness days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Functional web dashboard for uploading images and viewing predictions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Dataset combining fruit images with environmental data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Visual analytics &amp; graphs showing freshness trends over time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1" dirty="0"/>
              <a:t>Expected Outcome (Impact &amp; Benefits)</a:t>
            </a:r>
            <a:endParaRPr lang="en-US" sz="16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Reduced Food Wastage – act before fruits spoil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Improved Stock Management – better storage and sales decisions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Cost Savings – minimize losses from unsold/spoiled fruits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Sustainability &amp; Awareness – eco-friendly, waste-conscious handling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Practical AI Implementation – real-life solution for food quality monitoring</a:t>
            </a:r>
          </a:p>
        </p:txBody>
      </p:sp>
      <p:sp>
        <p:nvSpPr>
          <p:cNvPr id="431" name="Google Shape;431;p48">
            <a:extLst>
              <a:ext uri="{FF2B5EF4-FFF2-40B4-BE49-F238E27FC236}">
                <a16:creationId xmlns:a16="http://schemas.microsoft.com/office/drawing/2014/main" id="{226286A1-F304-B5BE-CB46-43C25D1E6B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64857"/>
            <a:ext cx="8105593" cy="7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dirty="0"/>
              <a:t>Expected Output and Outcome </a:t>
            </a:r>
          </a:p>
        </p:txBody>
      </p:sp>
      <p:sp>
        <p:nvSpPr>
          <p:cNvPr id="434" name="Google Shape;434;p48">
            <a:extLst>
              <a:ext uri="{FF2B5EF4-FFF2-40B4-BE49-F238E27FC236}">
                <a16:creationId xmlns:a16="http://schemas.microsoft.com/office/drawing/2014/main" id="{3EED8050-C92F-680B-5589-53FE2C69E8F4}"/>
              </a:ext>
            </a:extLst>
          </p:cNvPr>
          <p:cNvSpPr/>
          <p:nvPr/>
        </p:nvSpPr>
        <p:spPr>
          <a:xfrm>
            <a:off x="7275775" y="2351600"/>
            <a:ext cx="1087800" cy="7698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</p:spTree>
    <p:extLst>
      <p:ext uri="{BB962C8B-B14F-4D97-AF65-F5344CB8AC3E}">
        <p14:creationId xmlns:p14="http://schemas.microsoft.com/office/powerpoint/2010/main" val="38670452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DC706E61-3D4B-0ED8-3F7C-CFEB813DC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>
            <a:extLst>
              <a:ext uri="{FF2B5EF4-FFF2-40B4-BE49-F238E27FC236}">
                <a16:creationId xmlns:a16="http://schemas.microsoft.com/office/drawing/2014/main" id="{9EC2B1F3-CB7D-EEBC-609C-762C928B89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35036" y="2232350"/>
            <a:ext cx="6408963" cy="1912500"/>
          </a:xfrm>
          <a:prstGeom prst="rect">
            <a:avLst/>
          </a:prstGeom>
        </p:spPr>
        <p:txBody>
          <a:bodyPr spcFirstLastPara="1" wrap="square" lIns="91425" tIns="91425" rIns="731500" bIns="91425" anchor="ctr" anchorCtr="0">
            <a:noAutofit/>
          </a:bodyPr>
          <a:lstStyle/>
          <a:p>
            <a:pPr marL="0" lvl="0" indent="0"/>
            <a:r>
              <a:rPr lang="en-US" dirty="0"/>
              <a:t>Time Plan for Implementation</a:t>
            </a:r>
          </a:p>
        </p:txBody>
      </p:sp>
      <p:sp>
        <p:nvSpPr>
          <p:cNvPr id="183" name="Google Shape;183;p32">
            <a:extLst>
              <a:ext uri="{FF2B5EF4-FFF2-40B4-BE49-F238E27FC236}">
                <a16:creationId xmlns:a16="http://schemas.microsoft.com/office/drawing/2014/main" id="{6EDA3D28-207F-439D-81D4-54B0A03EE3D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735036" y="1085057"/>
            <a:ext cx="1642200" cy="97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11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42234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9"/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dirty="0"/>
              <a:t>Time Plan for Implementation</a:t>
            </a:r>
          </a:p>
        </p:txBody>
      </p:sp>
      <p:sp>
        <p:nvSpPr>
          <p:cNvPr id="281" name="Google Shape;281;p39"/>
          <p:cNvSpPr txBox="1">
            <a:spLocks noGrp="1"/>
          </p:cNvSpPr>
          <p:nvPr>
            <p:ph type="subTitle" idx="4294967295"/>
          </p:nvPr>
        </p:nvSpPr>
        <p:spPr>
          <a:xfrm>
            <a:off x="720000" y="1279493"/>
            <a:ext cx="2472900" cy="30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50000"/>
              </a:lnSpc>
              <a:buNone/>
            </a:pPr>
            <a:r>
              <a:rPr lang="en-US" sz="1400" dirty="0"/>
              <a:t>12-week project divided into phases: data collection, model development, testing, and reporting for organized progress and proper time management.</a:t>
            </a:r>
            <a:endParaRPr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BF52AA-F628-BD04-FD11-A056DAE963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06" t="3766" r="4511" b="5771"/>
          <a:stretch>
            <a:fillRect/>
          </a:stretch>
        </p:blipFill>
        <p:spPr>
          <a:xfrm>
            <a:off x="3331027" y="1215293"/>
            <a:ext cx="3902529" cy="30719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>
          <a:extLst>
            <a:ext uri="{FF2B5EF4-FFF2-40B4-BE49-F238E27FC236}">
              <a16:creationId xmlns:a16="http://schemas.microsoft.com/office/drawing/2014/main" id="{7A337EEC-793F-BD65-EA79-D3270FD65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9">
            <a:extLst>
              <a:ext uri="{FF2B5EF4-FFF2-40B4-BE49-F238E27FC236}">
                <a16:creationId xmlns:a16="http://schemas.microsoft.com/office/drawing/2014/main" id="{5A89A578-F483-EB24-42FA-E096C7C8F1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dirty="0"/>
              <a:t>Gann chart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2DFC27-D45E-A519-2D12-94208C9A14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5" t="1616" r="1548" b="3068"/>
          <a:stretch>
            <a:fillRect/>
          </a:stretch>
        </p:blipFill>
        <p:spPr>
          <a:xfrm>
            <a:off x="720000" y="1191985"/>
            <a:ext cx="7704000" cy="3804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9430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E7CD1013-BE85-BF52-5825-542DB8F92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>
            <a:extLst>
              <a:ext uri="{FF2B5EF4-FFF2-40B4-BE49-F238E27FC236}">
                <a16:creationId xmlns:a16="http://schemas.microsoft.com/office/drawing/2014/main" id="{F6F79903-B2B6-E562-0259-207D29B95A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35036" y="2232350"/>
            <a:ext cx="6408963" cy="1912500"/>
          </a:xfrm>
          <a:prstGeom prst="rect">
            <a:avLst/>
          </a:prstGeom>
        </p:spPr>
        <p:txBody>
          <a:bodyPr spcFirstLastPara="1" wrap="square" lIns="91425" tIns="91425" rIns="731500" bIns="91425" anchor="ctr" anchorCtr="0">
            <a:noAutofit/>
          </a:bodyPr>
          <a:lstStyle/>
          <a:p>
            <a:pPr marL="0" lvl="0" indent="0"/>
            <a:r>
              <a:rPr lang="en-US" dirty="0"/>
              <a:t>Limitations, Risks, and Critical Evaluation </a:t>
            </a:r>
          </a:p>
        </p:txBody>
      </p:sp>
      <p:sp>
        <p:nvSpPr>
          <p:cNvPr id="183" name="Google Shape;183;p32">
            <a:extLst>
              <a:ext uri="{FF2B5EF4-FFF2-40B4-BE49-F238E27FC236}">
                <a16:creationId xmlns:a16="http://schemas.microsoft.com/office/drawing/2014/main" id="{A3EA6BD6-F3E0-E90C-C37C-143F4EF565F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735036" y="1085057"/>
            <a:ext cx="1642200" cy="97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63111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>
          <a:extLst>
            <a:ext uri="{FF2B5EF4-FFF2-40B4-BE49-F238E27FC236}">
              <a16:creationId xmlns:a16="http://schemas.microsoft.com/office/drawing/2014/main" id="{107EADAA-082E-EBFB-C599-7994FB126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6" name="Google Shape;426;p48">
            <a:extLst>
              <a:ext uri="{FF2B5EF4-FFF2-40B4-BE49-F238E27FC236}">
                <a16:creationId xmlns:a16="http://schemas.microsoft.com/office/drawing/2014/main" id="{ABF543BF-C75F-8E7A-CA9E-AF4E32F57B8A}"/>
              </a:ext>
            </a:extLst>
          </p:cNvPr>
          <p:cNvGrpSpPr/>
          <p:nvPr/>
        </p:nvGrpSpPr>
        <p:grpSpPr>
          <a:xfrm>
            <a:off x="4376750" y="8250"/>
            <a:ext cx="4767250" cy="6062525"/>
            <a:chOff x="4376750" y="8250"/>
            <a:chExt cx="4767250" cy="6062525"/>
          </a:xfrm>
        </p:grpSpPr>
        <p:sp>
          <p:nvSpPr>
            <p:cNvPr id="427" name="Google Shape;427;p48">
              <a:extLst>
                <a:ext uri="{FF2B5EF4-FFF2-40B4-BE49-F238E27FC236}">
                  <a16:creationId xmlns:a16="http://schemas.microsoft.com/office/drawing/2014/main" id="{946C432C-0ADD-97BD-7BD7-1A5F655441F1}"/>
                </a:ext>
              </a:extLst>
            </p:cNvPr>
            <p:cNvSpPr/>
            <p:nvPr/>
          </p:nvSpPr>
          <p:spPr>
            <a:xfrm>
              <a:off x="4376750" y="3025100"/>
              <a:ext cx="4170900" cy="964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428" name="Google Shape;428;p48">
              <a:extLst>
                <a:ext uri="{FF2B5EF4-FFF2-40B4-BE49-F238E27FC236}">
                  <a16:creationId xmlns:a16="http://schemas.microsoft.com/office/drawing/2014/main" id="{02C00ED4-862E-13DE-E144-4F1CE046F0EF}"/>
                </a:ext>
              </a:extLst>
            </p:cNvPr>
            <p:cNvSpPr/>
            <p:nvPr/>
          </p:nvSpPr>
          <p:spPr>
            <a:xfrm rot="5400000">
              <a:off x="6098250" y="2089500"/>
              <a:ext cx="5127000" cy="964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429" name="Google Shape;429;p48">
              <a:extLst>
                <a:ext uri="{FF2B5EF4-FFF2-40B4-BE49-F238E27FC236}">
                  <a16:creationId xmlns:a16="http://schemas.microsoft.com/office/drawing/2014/main" id="{4884B70C-915D-4E4E-843C-BC861D635231}"/>
                </a:ext>
              </a:extLst>
            </p:cNvPr>
            <p:cNvSpPr/>
            <p:nvPr/>
          </p:nvSpPr>
          <p:spPr>
            <a:xfrm rot="5400000">
              <a:off x="4233350" y="3773075"/>
              <a:ext cx="3630900" cy="964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sp>
        <p:nvSpPr>
          <p:cNvPr id="430" name="Google Shape;430;p48">
            <a:extLst>
              <a:ext uri="{FF2B5EF4-FFF2-40B4-BE49-F238E27FC236}">
                <a16:creationId xmlns:a16="http://schemas.microsoft.com/office/drawing/2014/main" id="{3A118BD5-A158-9B58-8519-8618E617C13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0" y="1093481"/>
            <a:ext cx="8293371" cy="36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 b="1" dirty="0"/>
              <a:t>Limitations</a:t>
            </a:r>
            <a:endParaRPr lang="en-US" sz="16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Limited Dataset Size: Small or unbalanced datasets reduce model accuracy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Environmental Variation: Manual temperature/humidity recording may have small errors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Image Quality Dependency: Blurry or low-light images may cause misclassification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Limited Fruit Variety: Initial focus on few fruits; adding more requires retraining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Hardware Constraints: Training on standard laptops may be slow without GPU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1" dirty="0"/>
              <a:t>Risks</a:t>
            </a:r>
            <a:endParaRPr lang="en-US" sz="16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Data Collection Challenges: Scheduling/permission issues with fruit shops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Model Overfitting: Small datasets may fail in real-world scenarios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Integration &amp; Usability Risks: Dashboard integration may face technical issues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Environmental Inconsistency: Incorrect data could mislead predictions</a:t>
            </a:r>
          </a:p>
        </p:txBody>
      </p:sp>
      <p:sp>
        <p:nvSpPr>
          <p:cNvPr id="431" name="Google Shape;431;p48">
            <a:extLst>
              <a:ext uri="{FF2B5EF4-FFF2-40B4-BE49-F238E27FC236}">
                <a16:creationId xmlns:a16="http://schemas.microsoft.com/office/drawing/2014/main" id="{9FFFA70A-5F63-C452-67E2-DF0A41D65C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52688"/>
            <a:ext cx="77040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Limitations &amp; Risks</a:t>
            </a:r>
          </a:p>
        </p:txBody>
      </p:sp>
    </p:spTree>
    <p:extLst>
      <p:ext uri="{BB962C8B-B14F-4D97-AF65-F5344CB8AC3E}">
        <p14:creationId xmlns:p14="http://schemas.microsoft.com/office/powerpoint/2010/main" val="26854485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>
          <a:extLst>
            <a:ext uri="{FF2B5EF4-FFF2-40B4-BE49-F238E27FC236}">
              <a16:creationId xmlns:a16="http://schemas.microsoft.com/office/drawing/2014/main" id="{0EC9A57D-A637-70AE-CE91-E6D3E04B9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6" name="Google Shape;426;p48">
            <a:extLst>
              <a:ext uri="{FF2B5EF4-FFF2-40B4-BE49-F238E27FC236}">
                <a16:creationId xmlns:a16="http://schemas.microsoft.com/office/drawing/2014/main" id="{B83C42FF-0575-E77B-9C04-04259AE223B1}"/>
              </a:ext>
            </a:extLst>
          </p:cNvPr>
          <p:cNvGrpSpPr/>
          <p:nvPr/>
        </p:nvGrpSpPr>
        <p:grpSpPr>
          <a:xfrm>
            <a:off x="4376750" y="8250"/>
            <a:ext cx="4767250" cy="6062525"/>
            <a:chOff x="4376750" y="8250"/>
            <a:chExt cx="4767250" cy="6062525"/>
          </a:xfrm>
        </p:grpSpPr>
        <p:sp>
          <p:nvSpPr>
            <p:cNvPr id="427" name="Google Shape;427;p48">
              <a:extLst>
                <a:ext uri="{FF2B5EF4-FFF2-40B4-BE49-F238E27FC236}">
                  <a16:creationId xmlns:a16="http://schemas.microsoft.com/office/drawing/2014/main" id="{80ADE812-A263-FA31-24EC-6627225F4A56}"/>
                </a:ext>
              </a:extLst>
            </p:cNvPr>
            <p:cNvSpPr/>
            <p:nvPr/>
          </p:nvSpPr>
          <p:spPr>
            <a:xfrm>
              <a:off x="4376750" y="3025100"/>
              <a:ext cx="4170900" cy="964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428" name="Google Shape;428;p48">
              <a:extLst>
                <a:ext uri="{FF2B5EF4-FFF2-40B4-BE49-F238E27FC236}">
                  <a16:creationId xmlns:a16="http://schemas.microsoft.com/office/drawing/2014/main" id="{5AA4B886-C0DE-C934-3D10-CF240AD8D6A5}"/>
                </a:ext>
              </a:extLst>
            </p:cNvPr>
            <p:cNvSpPr/>
            <p:nvPr/>
          </p:nvSpPr>
          <p:spPr>
            <a:xfrm rot="5400000">
              <a:off x="6098250" y="2089500"/>
              <a:ext cx="5127000" cy="964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429" name="Google Shape;429;p48">
              <a:extLst>
                <a:ext uri="{FF2B5EF4-FFF2-40B4-BE49-F238E27FC236}">
                  <a16:creationId xmlns:a16="http://schemas.microsoft.com/office/drawing/2014/main" id="{E9FD8B6F-83A3-4690-41C2-71875C7E22D1}"/>
                </a:ext>
              </a:extLst>
            </p:cNvPr>
            <p:cNvSpPr/>
            <p:nvPr/>
          </p:nvSpPr>
          <p:spPr>
            <a:xfrm rot="5400000">
              <a:off x="4233350" y="3773075"/>
              <a:ext cx="3630900" cy="964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sp>
        <p:nvSpPr>
          <p:cNvPr id="430" name="Google Shape;430;p48">
            <a:extLst>
              <a:ext uri="{FF2B5EF4-FFF2-40B4-BE49-F238E27FC236}">
                <a16:creationId xmlns:a16="http://schemas.microsoft.com/office/drawing/2014/main" id="{A27E8F0A-283C-366A-491D-9B190160A5E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0" y="1199126"/>
            <a:ext cx="7240179" cy="33864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Continuous Model Testing:</a:t>
            </a:r>
            <a:r>
              <a:rPr lang="en-US" sz="1400" dirty="0"/>
              <a:t> Evaluate with unseen data and real fruit samples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Performance Metrics:</a:t>
            </a:r>
            <a:r>
              <a:rPr lang="en-US" sz="1400" dirty="0"/>
              <a:t> Use </a:t>
            </a:r>
            <a:r>
              <a:rPr lang="en-US" sz="1400" b="1" dirty="0"/>
              <a:t>accuracy, precision, recall, F1 score</a:t>
            </a:r>
            <a:r>
              <a:rPr lang="en-US" sz="1400" dirty="0"/>
              <a:t>; retrain if needed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User Feedback Evaluation:</a:t>
            </a:r>
            <a:r>
              <a:rPr lang="en-US" sz="1400" dirty="0"/>
              <a:t> Collect feedback on usability, dashboard clarity, and prediction reliability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Iteration &amp; Improvement:</a:t>
            </a:r>
            <a:r>
              <a:rPr lang="en-US" sz="1400" dirty="0"/>
              <a:t> Expand dataset, re-optimize model, refine dashboard for better accuracy and user experience</a:t>
            </a:r>
          </a:p>
        </p:txBody>
      </p:sp>
      <p:sp>
        <p:nvSpPr>
          <p:cNvPr id="431" name="Google Shape;431;p48">
            <a:extLst>
              <a:ext uri="{FF2B5EF4-FFF2-40B4-BE49-F238E27FC236}">
                <a16:creationId xmlns:a16="http://schemas.microsoft.com/office/drawing/2014/main" id="{9876E3CE-9805-C899-1DF2-08A0FF3EA3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52688"/>
            <a:ext cx="77040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800" dirty="0"/>
              <a:t>Critical Evaluation Plan</a:t>
            </a:r>
          </a:p>
        </p:txBody>
      </p:sp>
    </p:spTree>
    <p:extLst>
      <p:ext uri="{BB962C8B-B14F-4D97-AF65-F5344CB8AC3E}">
        <p14:creationId xmlns:p14="http://schemas.microsoft.com/office/powerpoint/2010/main" val="17178167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8"/>
          <p:cNvSpPr txBox="1">
            <a:spLocks noGrp="1"/>
          </p:cNvSpPr>
          <p:nvPr>
            <p:ph type="title"/>
          </p:nvPr>
        </p:nvSpPr>
        <p:spPr>
          <a:xfrm>
            <a:off x="1412421" y="1442700"/>
            <a:ext cx="7796893" cy="1628400"/>
          </a:xfrm>
          <a:prstGeom prst="rect">
            <a:avLst/>
          </a:prstGeom>
        </p:spPr>
        <p:txBody>
          <a:bodyPr spcFirstLastPara="1" wrap="square" lIns="822950" tIns="91425" rIns="91425" bIns="91425" anchor="ctr" anchorCtr="0">
            <a:noAutofit/>
          </a:bodyPr>
          <a:lstStyle/>
          <a:p>
            <a:pPr lvl="0"/>
            <a:r>
              <a:rPr lang="en" dirty="0"/>
              <a:t>THANKS</a:t>
            </a:r>
            <a:endParaRPr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444CBDA-A6A7-5C02-FD31-4859F6CD0A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2421" y="3242218"/>
            <a:ext cx="3257700" cy="1137600"/>
          </a:xfrm>
        </p:spPr>
        <p:txBody>
          <a:bodyPr/>
          <a:lstStyle/>
          <a:p>
            <a:pPr marL="0" lvl="0" indent="0"/>
            <a:r>
              <a:rPr lang="en-US" dirty="0" err="1"/>
              <a:t>F.R.Althaf</a:t>
            </a:r>
            <a:r>
              <a:rPr lang="en-US" dirty="0"/>
              <a:t> Hussain</a:t>
            </a:r>
          </a:p>
          <a:p>
            <a:pPr marL="0" lvl="0" indent="0"/>
            <a:r>
              <a:rPr lang="en-US" dirty="0"/>
              <a:t>CL/BSCDS/CMU/08/26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2"/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References</a:t>
            </a:r>
            <a:endParaRPr dirty="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9ABF088-1E58-B921-ACF4-7457F1B9C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757" y="1100050"/>
            <a:ext cx="8335734" cy="3806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Engelbart, E. (2023). </a:t>
            </a:r>
            <a:r>
              <a:rPr kumimoji="0" lang="en-US" altLang="en-US" sz="9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to Extend the Shelf Life of Fruits and Vegetables with Science.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University of Texas News. Available at: https://cns.utexas.edu/news/features/how-extendshelf-life-fruits-and-vegetables-science [Accessed 1 Nov. 2025].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FoodInformatics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Review (2024). </a:t>
            </a:r>
            <a:r>
              <a:rPr kumimoji="0" lang="en-US" altLang="en-US" sz="9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Challenges in AI-Based Food Shelf-Life Prediction.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University of Hohenheim. Available at: https://www.uni-hohenheim.de/ [Accessed 1 Nov. 2025].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Hoffmann, T.G. (2023). </a:t>
            </a:r>
            <a:r>
              <a:rPr kumimoji="0" lang="en-US" altLang="en-US" sz="9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Fresh food shelf-life improvement by humidity regulation in storage environments.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ScienceDirect. Available at: https://www.sciencedirect.com/science/article/pii/S1877050922023572 [Accessed 1 Nov. 2025].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IEEE Paper (2024). </a:t>
            </a:r>
            <a:r>
              <a:rPr kumimoji="0" lang="en-US" altLang="en-US" sz="9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 Learning-Based Fruit Freshness Detection Using Convolutional Neural Networks (Paper No. 10891620).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IEEE Xplore. Available at: https://ieeexplore.ieee.org/document/10891620 [Accessed 1 Nov. 2025].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Kuhl, E. (2025). </a:t>
            </a:r>
            <a:r>
              <a:rPr kumimoji="0" lang="en-US" altLang="en-US" sz="9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for food: accelerating and democratizing discovery and innovation.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Nature. Available at: https://www.nature.com/articles/s41538-025-00441-8 [Accessed 1 Nov. 2025].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Kumar, R. &amp; Gupta, S. (2023). </a:t>
            </a:r>
            <a:r>
              <a:rPr kumimoji="0" lang="en-US" altLang="en-US" sz="9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Fruit Quality Detection using Ensemble CNNs.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ScienceDirect. Available at: https://www.sciencedirect.com/ [Accessed 1 Nov. 2025].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Li, Y. et al. (2024). </a:t>
            </a:r>
            <a:r>
              <a:rPr kumimoji="0" lang="en-US" altLang="en-US" sz="9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 Learning Approaches for Fruit Freshness Classification.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MDPI. Available at: https://www.mdpi.com/ [Accessed 1 Nov. 2025].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Liu, H. (2023). </a:t>
            </a:r>
            <a:r>
              <a:rPr kumimoji="0" lang="en-US" altLang="en-US" sz="9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Virtual Cold Chain Method to Evaluate the Effect of Rising Temperatures on Fruit Quality.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PMC. Available at: https://pmc.ncbi.nlm.nih.gov/articles/PMC10297325/ [Accessed 1 Nov. 2025].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MDPI (2025). </a:t>
            </a:r>
            <a:r>
              <a:rPr kumimoji="0" lang="en-US" altLang="en-US" sz="9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Applications in Food Quality Control.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MDPI. Available at: https://www.mdpi.com/ [Accessed 1 Nov. 2025].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Mulla, A. &amp;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Dhamal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A. (2025). </a:t>
            </a:r>
            <a:r>
              <a:rPr kumimoji="0" lang="en-US" altLang="en-US" sz="9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AI-based food spoilage detection (Computer Vision + Sensor Data).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IJPREMS. Available at: https://www.ijprems.com/uploadedfiles/paper/issue_4_april_2025/39563/final/fin_ijprems1743712616.pdf [Accessed 1 Nov. 2025].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>
          <a:extLst>
            <a:ext uri="{FF2B5EF4-FFF2-40B4-BE49-F238E27FC236}">
              <a16:creationId xmlns:a16="http://schemas.microsoft.com/office/drawing/2014/main" id="{37488F5D-41FE-4EF0-797E-F1520895F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2">
            <a:extLst>
              <a:ext uri="{FF2B5EF4-FFF2-40B4-BE49-F238E27FC236}">
                <a16:creationId xmlns:a16="http://schemas.microsoft.com/office/drawing/2014/main" id="{860ADA15-E8FC-853C-2956-2F0A4AF012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References</a:t>
            </a:r>
            <a:endParaRPr dirty="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15778EE6-BB90-DD24-2FE2-923416549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757" y="1100050"/>
            <a:ext cx="8335734" cy="3806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dirty="0"/>
              <a:t>Patel, V. et al. (2025). </a:t>
            </a:r>
            <a:r>
              <a:rPr lang="en-US" sz="900" i="1" dirty="0"/>
              <a:t>RGB-Thermal Hybrid Learning for Vegetable Decay Prediction.</a:t>
            </a:r>
            <a:r>
              <a:rPr lang="en-US" sz="900" dirty="0"/>
              <a:t> MDPI. Available at: </a:t>
            </a:r>
            <a:r>
              <a:rPr lang="en-US" sz="900" dirty="0">
                <a:hlinkClick r:id="rId3"/>
              </a:rPr>
              <a:t>https://www.mdpi.com/</a:t>
            </a:r>
            <a:r>
              <a:rPr lang="en-US" sz="900" dirty="0"/>
              <a:t> [Accessed 1 Nov. 2025].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dirty="0"/>
              <a:t>Purdue University News (2025). </a:t>
            </a:r>
            <a:r>
              <a:rPr lang="en-US" sz="900" i="1" dirty="0"/>
              <a:t>Consumers mostly support AI tools to improve food and agriculture.</a:t>
            </a:r>
            <a:r>
              <a:rPr lang="en-US" sz="900" dirty="0"/>
              <a:t> Purdue Agriculture. Available at: </a:t>
            </a:r>
            <a:r>
              <a:rPr lang="en-US" sz="900" dirty="0">
                <a:hlinkClick r:id="rId4"/>
              </a:rPr>
              <a:t>https://ag.purdue.edu/news/2025/09/consumers-mostly-support-ai-tools-to-improve-food-and-agriculture.html</a:t>
            </a:r>
            <a:r>
              <a:rPr lang="en-US" sz="900" dirty="0"/>
              <a:t> [Accessed 1 Nov. 2025].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dirty="0"/>
              <a:t>Rahman, H. et al. (2024). </a:t>
            </a:r>
            <a:r>
              <a:rPr lang="en-US" sz="900" i="1" dirty="0"/>
              <a:t>IoT-Based Monitoring of Mango Freshness in Cold Chain Systems.</a:t>
            </a:r>
            <a:r>
              <a:rPr lang="en-US" sz="900" dirty="0"/>
              <a:t> IEEE Access. Available at: </a:t>
            </a:r>
            <a:r>
              <a:rPr lang="en-US" sz="900" dirty="0">
                <a:hlinkClick r:id="rId5"/>
              </a:rPr>
              <a:t>https://ieeexplore.ieee.org/</a:t>
            </a:r>
            <a:r>
              <a:rPr lang="en-US" sz="900" dirty="0"/>
              <a:t> [Accessed 1 Nov. 2025].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dirty="0"/>
              <a:t>ScienceDirect (2024). </a:t>
            </a:r>
            <a:r>
              <a:rPr lang="en-US" sz="900" i="1" dirty="0"/>
              <a:t>AI and Environmental Modeling in Food Supply Chains.</a:t>
            </a:r>
            <a:r>
              <a:rPr lang="en-US" sz="900" dirty="0"/>
              <a:t> Elsevier. Available at: </a:t>
            </a:r>
            <a:r>
              <a:rPr lang="en-US" sz="900" dirty="0">
                <a:hlinkClick r:id="rId6"/>
              </a:rPr>
              <a:t>https://www.sciencedirect.com/</a:t>
            </a:r>
            <a:r>
              <a:rPr lang="en-US" sz="900" dirty="0"/>
              <a:t> [Accessed 1 Nov. 2025].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dirty="0" err="1"/>
              <a:t>Sonwani</a:t>
            </a:r>
            <a:r>
              <a:rPr lang="en-US" sz="900" dirty="0"/>
              <a:t>, E. (2022). </a:t>
            </a:r>
            <a:r>
              <a:rPr lang="en-US" sz="900" i="1" dirty="0"/>
              <a:t>An Artificial Intelligence Approach Toward Food Spoilage.</a:t>
            </a:r>
            <a:r>
              <a:rPr lang="en-US" sz="900" dirty="0"/>
              <a:t> PMC. Available at: </a:t>
            </a:r>
            <a:r>
              <a:rPr lang="en-US" sz="900" dirty="0">
                <a:hlinkClick r:id="rId7"/>
              </a:rPr>
              <a:t>https://pmc.ncbi.nlm.nih.gov/articles/PMC8802332/</a:t>
            </a:r>
            <a:r>
              <a:rPr lang="en-US" sz="900" dirty="0"/>
              <a:t> [Accessed 1 Nov. 2025].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dirty="0"/>
              <a:t>Sowmiya, R., </a:t>
            </a:r>
            <a:r>
              <a:rPr lang="en-US" sz="900" dirty="0" err="1"/>
              <a:t>Chanstar</a:t>
            </a:r>
            <a:r>
              <a:rPr lang="en-US" sz="900" dirty="0"/>
              <a:t>, S., Banu, S. &amp; Kumar, R. (2024). </a:t>
            </a:r>
            <a:r>
              <a:rPr lang="en-US" sz="900" i="1" dirty="0"/>
              <a:t>Predicting Shelf-Life of Fruits: A Multifactorial Approach using Intrinsic and Extrinsic Determinants.</a:t>
            </a:r>
            <a:r>
              <a:rPr lang="en-US" sz="900" dirty="0"/>
              <a:t> IJRASET. Available at: </a:t>
            </a:r>
            <a:r>
              <a:rPr lang="en-US" sz="900" dirty="0">
                <a:hlinkClick r:id="rId8"/>
              </a:rPr>
              <a:t>https://www.ijraset.com/research-paper/predicting-shelf-life-of-fruits-a-multifactorial-approach-using-intrinsic</a:t>
            </a:r>
            <a:r>
              <a:rPr lang="en-US" sz="900" dirty="0"/>
              <a:t> [Accessed 1 Nov. 2025].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dirty="0"/>
              <a:t>Torres-Sánchez, R. (2020). </a:t>
            </a:r>
            <a:r>
              <a:rPr lang="en-US" sz="900" i="1" dirty="0"/>
              <a:t>Real-Time Monitoring System for Shelf Life Estimation of Fruit.</a:t>
            </a:r>
            <a:r>
              <a:rPr lang="en-US" sz="900" dirty="0"/>
              <a:t> PMC. Available at: </a:t>
            </a:r>
            <a:r>
              <a:rPr lang="en-US" sz="900" dirty="0">
                <a:hlinkClick r:id="rId9"/>
              </a:rPr>
              <a:t>https://pmc.ncbi.nlm.nih.gov/articles/PMC7180900/</a:t>
            </a:r>
            <a:r>
              <a:rPr lang="en-US" sz="900" dirty="0"/>
              <a:t> [Accessed 1 Nov. 2025].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dirty="0"/>
              <a:t>University of Maine Extension (n.d.). </a:t>
            </a:r>
            <a:r>
              <a:rPr lang="en-US" sz="900" i="1" dirty="0"/>
              <a:t>Storage Conditions: Fruits and Vegetables, Bulletin #4135.</a:t>
            </a:r>
            <a:r>
              <a:rPr lang="en-US" sz="900" dirty="0"/>
              <a:t> Cooperative Extension. Available at: </a:t>
            </a:r>
            <a:r>
              <a:rPr lang="en-US" sz="900" dirty="0">
                <a:hlinkClick r:id="rId10"/>
              </a:rPr>
              <a:t>https://extension.umaine.edu/publications/4135e/</a:t>
            </a:r>
            <a:r>
              <a:rPr lang="en-US" sz="900" dirty="0"/>
              <a:t> [Accessed 1 Nov. 2025].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dirty="0"/>
              <a:t>Zhang, L. et al. (2023). </a:t>
            </a:r>
            <a:r>
              <a:rPr lang="en-US" sz="900" i="1" dirty="0"/>
              <a:t>Predicting Banana Shelf-Life using Temperature and Humidity Models.</a:t>
            </a:r>
            <a:r>
              <a:rPr lang="en-US" sz="900" dirty="0"/>
              <a:t> ScienceDirect. Available at: </a:t>
            </a:r>
            <a:r>
              <a:rPr lang="en-US" sz="900" dirty="0">
                <a:hlinkClick r:id="rId6"/>
              </a:rPr>
              <a:t>https://www.sciencedirect.com/</a:t>
            </a:r>
            <a:r>
              <a:rPr lang="en-US" sz="900" dirty="0"/>
              <a:t> [Accessed 1 Nov. 2025].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dirty="0"/>
              <a:t>Zhou, J. et al. (2024). </a:t>
            </a:r>
            <a:r>
              <a:rPr lang="en-US" sz="900" i="1" dirty="0"/>
              <a:t>Multimodal Sensor Fusion for Apple Freshness Estimation.</a:t>
            </a:r>
            <a:r>
              <a:rPr lang="en-US" sz="900" dirty="0"/>
              <a:t> IEEE Access. Available at: </a:t>
            </a:r>
            <a:r>
              <a:rPr lang="en-US" sz="900" dirty="0">
                <a:hlinkClick r:id="rId5"/>
              </a:rPr>
              <a:t>https://ieeexplore.ieee.org/</a:t>
            </a:r>
            <a:r>
              <a:rPr lang="en-US" sz="900" dirty="0"/>
              <a:t> [Accessed 1 Nov. 2025].</a:t>
            </a:r>
          </a:p>
        </p:txBody>
      </p:sp>
    </p:spTree>
    <p:extLst>
      <p:ext uri="{BB962C8B-B14F-4D97-AF65-F5344CB8AC3E}">
        <p14:creationId xmlns:p14="http://schemas.microsoft.com/office/powerpoint/2010/main" val="1664272898"/>
      </p:ext>
    </p:extLst>
  </p:cSld>
  <p:clrMapOvr>
    <a:masterClrMapping/>
  </p:clrMapOvr>
</p:sld>
</file>

<file path=ppt/theme/theme1.xml><?xml version="1.0" encoding="utf-8"?>
<a:theme xmlns:a="http://schemas.openxmlformats.org/drawingml/2006/main" name="Social Market Economy Proposal by Slidesgo">
  <a:themeElements>
    <a:clrScheme name="Simple Light">
      <a:dk1>
        <a:srgbClr val="191919"/>
      </a:dk1>
      <a:lt1>
        <a:srgbClr val="FFFFFF"/>
      </a:lt1>
      <a:dk2>
        <a:srgbClr val="EDEDE9"/>
      </a:dk2>
      <a:lt2>
        <a:srgbClr val="D6CCC2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2999</Words>
  <Application>Microsoft Office PowerPoint</Application>
  <PresentationFormat>On-screen Show (16:9)</PresentationFormat>
  <Paragraphs>400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3" baseType="lpstr">
      <vt:lpstr>Arial</vt:lpstr>
      <vt:lpstr>Raleway</vt:lpstr>
      <vt:lpstr>Albert Sans</vt:lpstr>
      <vt:lpstr>Nunito Light</vt:lpstr>
      <vt:lpstr>Anaheim</vt:lpstr>
      <vt:lpstr>Archivo</vt:lpstr>
      <vt:lpstr>Open Sans</vt:lpstr>
      <vt:lpstr>Social Market Economy Proposal by Slidesgo</vt:lpstr>
      <vt:lpstr>Final Project Proposal</vt:lpstr>
      <vt:lpstr>TABLE OF CONTENTS</vt:lpstr>
      <vt:lpstr>INTRODUCTION</vt:lpstr>
      <vt:lpstr>PowerPoint Presentation</vt:lpstr>
      <vt:lpstr>Problem Statement &amp; Objectives</vt:lpstr>
      <vt:lpstr>PowerPoint Presentation</vt:lpstr>
      <vt:lpstr>Introduction</vt:lpstr>
      <vt:lpstr>Current Situation and Problem Identification </vt:lpstr>
      <vt:lpstr>Current Situation and Problem Identification </vt:lpstr>
      <vt:lpstr>Existing Limitations</vt:lpstr>
      <vt:lpstr>Problem Statement &amp; Proposed Direction</vt:lpstr>
      <vt:lpstr>Literature Review </vt:lpstr>
      <vt:lpstr>Image-Based Freshness Detection</vt:lpstr>
      <vt:lpstr>Environmental &amp; Hybrid Approaches</vt:lpstr>
      <vt:lpstr>Key Gaps &amp; IEEE Paper</vt:lpstr>
      <vt:lpstr>Project Contribution</vt:lpstr>
      <vt:lpstr>Research Gaps &amp; Solutions</vt:lpstr>
      <vt:lpstr>Proposed Technique/Solution</vt:lpstr>
      <vt:lpstr>Overview &amp; System Architecture</vt:lpstr>
      <vt:lpstr>Data, Inputs &amp; Outputs</vt:lpstr>
      <vt:lpstr>Overview &amp; System Architecture</vt:lpstr>
      <vt:lpstr>FUNCTIONAL DASHBOARD</vt:lpstr>
      <vt:lpstr>Feasibility Analysis</vt:lpstr>
      <vt:lpstr>Feasibility Analysis </vt:lpstr>
      <vt:lpstr>Project Description</vt:lpstr>
      <vt:lpstr> Project Description- AI-Based Fruit Expiry Prediction System </vt:lpstr>
      <vt:lpstr>Feasibility Analysis </vt:lpstr>
      <vt:lpstr>Model &amp; Dashboard</vt:lpstr>
      <vt:lpstr>Deliverables</vt:lpstr>
      <vt:lpstr>Project Deliverables (AI Model &amp; Dataset)</vt:lpstr>
      <vt:lpstr>Dashboard &amp; Documentation</vt:lpstr>
      <vt:lpstr>Resources Required </vt:lpstr>
      <vt:lpstr>System Requirements (Hardware &amp; Data)</vt:lpstr>
      <vt:lpstr>Software &amp; Tools</vt:lpstr>
      <vt:lpstr>Expected Output and Outcome </vt:lpstr>
      <vt:lpstr>Expected Output and Outcome </vt:lpstr>
      <vt:lpstr>Time Plan for Implementation</vt:lpstr>
      <vt:lpstr>Time Plan for Implementation</vt:lpstr>
      <vt:lpstr>Gann chart</vt:lpstr>
      <vt:lpstr>Limitations, Risks, and Critical Evaluation </vt:lpstr>
      <vt:lpstr>Limitations &amp; Risks</vt:lpstr>
      <vt:lpstr>Critical Evaluation Plan</vt:lpstr>
      <vt:lpstr>THANKS</vt:lpstr>
      <vt:lpstr>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Abdul Razzaq</dc:creator>
  <cp:lastModifiedBy>Abdullah, Abdullah</cp:lastModifiedBy>
  <cp:revision>31</cp:revision>
  <dcterms:modified xsi:type="dcterms:W3CDTF">2026-05-27T17:00:21Z</dcterms:modified>
</cp:coreProperties>
</file>